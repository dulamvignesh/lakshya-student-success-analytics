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2" r:id="rId2"/>
  </p:sldMasterIdLst>
  <p:notesMasterIdLst>
    <p:notesMasterId r:id="rId17"/>
  </p:notesMasterIdLst>
  <p:sldIdLst>
    <p:sldId id="256" r:id="rId3"/>
    <p:sldId id="571" r:id="rId4"/>
    <p:sldId id="572" r:id="rId5"/>
    <p:sldId id="573" r:id="rId6"/>
    <p:sldId id="574" r:id="rId7"/>
    <p:sldId id="575" r:id="rId8"/>
    <p:sldId id="576" r:id="rId9"/>
    <p:sldId id="580" r:id="rId10"/>
    <p:sldId id="581" r:id="rId11"/>
    <p:sldId id="582" r:id="rId12"/>
    <p:sldId id="577" r:id="rId13"/>
    <p:sldId id="579" r:id="rId14"/>
    <p:sldId id="578" r:id="rId15"/>
    <p:sldId id="536" r:id="rId16"/>
  </p:sldIdLst>
  <p:sldSz cx="12192000" cy="6858000"/>
  <p:notesSz cx="6858000" cy="9144000"/>
  <p:custDataLst>
    <p:tags r:id="rId1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312"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A751"/>
    <a:srgbClr val="263570"/>
    <a:srgbClr val="4A9DE2"/>
    <a:srgbClr val="88BFEC"/>
    <a:srgbClr val="F9B1B1"/>
    <a:srgbClr val="B2DE82"/>
    <a:srgbClr val="F57373"/>
    <a:srgbClr val="F03434"/>
    <a:srgbClr val="BC7D00"/>
    <a:srgbClr val="FFBC3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73818" autoAdjust="0"/>
  </p:normalViewPr>
  <p:slideViewPr>
    <p:cSldViewPr snapToGrid="0">
      <p:cViewPr varScale="1">
        <p:scale>
          <a:sx n="85" d="100"/>
          <a:sy n="85" d="100"/>
        </p:scale>
        <p:origin x="562" y="53"/>
      </p:cViewPr>
      <p:guideLst>
        <p:guide orient="horz" pos="672"/>
        <p:guide pos="312"/>
        <p:guide orient="horz" pos="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gs" Target="tags/tag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microsoft.com/office/2018/10/relationships/authors" Target="authors.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t>14-03-2026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t>‹#›</a:t>
            </a:fld>
            <a:endParaRPr lang="en-IN"/>
          </a:p>
        </p:txBody>
      </p:sp>
    </p:spTree>
    <p:extLst>
      <p:ext uri="{BB962C8B-B14F-4D97-AF65-F5344CB8AC3E}">
        <p14:creationId xmlns:p14="http://schemas.microsoft.com/office/powerpoint/2010/main" val="1941331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t>1</a:t>
            </a:fld>
            <a:endParaRPr lang="en-IN"/>
          </a:p>
        </p:txBody>
      </p:sp>
    </p:spTree>
    <p:extLst>
      <p:ext uri="{BB962C8B-B14F-4D97-AF65-F5344CB8AC3E}">
        <p14:creationId xmlns:p14="http://schemas.microsoft.com/office/powerpoint/2010/main" val="28582663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88B07-5A8B-12D3-48D5-B8315D13CD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7B6700-05A0-7411-109E-A374569B63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88D759-B238-4D1C-A179-63DF885F62A2}"/>
              </a:ext>
            </a:extLst>
          </p:cNvPr>
          <p:cNvSpPr>
            <a:spLocks noGrp="1"/>
          </p:cNvSpPr>
          <p:nvPr>
            <p:ph type="body" idx="1"/>
          </p:nvPr>
        </p:nvSpPr>
        <p:spPr/>
        <p:txBody>
          <a:bodyPr/>
          <a:lstStyle/>
          <a:p>
            <a:endParaRPr lang="en-IN">
              <a:cs typeface="Calibri"/>
            </a:endParaRPr>
          </a:p>
        </p:txBody>
      </p:sp>
      <p:sp>
        <p:nvSpPr>
          <p:cNvPr id="4" name="Slide Number Placeholder 3">
            <a:extLst>
              <a:ext uri="{FF2B5EF4-FFF2-40B4-BE49-F238E27FC236}">
                <a16:creationId xmlns:a16="http://schemas.microsoft.com/office/drawing/2014/main" id="{74C31F17-191B-CFE4-28A8-DF229B949339}"/>
              </a:ext>
            </a:extLst>
          </p:cNvPr>
          <p:cNvSpPr>
            <a:spLocks noGrp="1"/>
          </p:cNvSpPr>
          <p:nvPr>
            <p:ph type="sldNum" sz="quarter" idx="5"/>
          </p:nvPr>
        </p:nvSpPr>
        <p:spPr/>
        <p:txBody>
          <a:bodyPr/>
          <a:lstStyle/>
          <a:p>
            <a:fld id="{F3065E4E-ABE4-4C79-8716-B93932D5FBD3}" type="slidenum">
              <a:rPr lang="en-IN" smtClean="0"/>
              <a:t>14</a:t>
            </a:fld>
            <a:endParaRPr lang="en-IN"/>
          </a:p>
        </p:txBody>
      </p:sp>
    </p:spTree>
    <p:extLst>
      <p:ext uri="{BB962C8B-B14F-4D97-AF65-F5344CB8AC3E}">
        <p14:creationId xmlns:p14="http://schemas.microsoft.com/office/powerpoint/2010/main" val="207685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0626846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690970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54273-D1B2-B5DA-BF7E-9FF169DF6E6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30EE723-48AC-C184-D51D-DB184D9E4A1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5A217C-58BE-CEDC-FE42-FFECCA1613A4}"/>
              </a:ext>
            </a:extLst>
          </p:cNvPr>
          <p:cNvSpPr>
            <a:spLocks noGrp="1"/>
          </p:cNvSpPr>
          <p:nvPr>
            <p:ph type="dt" sz="half" idx="10"/>
          </p:nvPr>
        </p:nvSpPr>
        <p:spPr/>
        <p:txBody>
          <a:bodyPr/>
          <a:lstStyle/>
          <a:p>
            <a:fld id="{CB3FA99E-0146-4BD9-9E30-4EB71F3A4207}" type="datetimeFigureOut">
              <a:rPr lang="en-IN" smtClean="0"/>
              <a:t>14-03-2026</a:t>
            </a:fld>
            <a:endParaRPr lang="en-IN"/>
          </a:p>
        </p:txBody>
      </p:sp>
      <p:sp>
        <p:nvSpPr>
          <p:cNvPr id="5" name="Footer Placeholder 4">
            <a:extLst>
              <a:ext uri="{FF2B5EF4-FFF2-40B4-BE49-F238E27FC236}">
                <a16:creationId xmlns:a16="http://schemas.microsoft.com/office/drawing/2014/main" id="{72F67DFB-4595-5610-E73D-EA112439D5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B5188B-8994-FE2D-E924-64F2FB541B2D}"/>
              </a:ext>
            </a:extLst>
          </p:cNvPr>
          <p:cNvSpPr>
            <a:spLocks noGrp="1"/>
          </p:cNvSpPr>
          <p:nvPr>
            <p:ph type="sldNum" sz="quarter" idx="12"/>
          </p:nvPr>
        </p:nvSpPr>
        <p:spPr/>
        <p:txBody>
          <a:bodyPr/>
          <a:lstStyle/>
          <a:p>
            <a:fld id="{34381918-31C6-44C6-A382-2FA557A3F6B9}" type="slidenum">
              <a:rPr lang="en-IN" smtClean="0"/>
              <a:t>‹#›</a:t>
            </a:fld>
            <a:endParaRPr lang="en-IN"/>
          </a:p>
        </p:txBody>
      </p:sp>
    </p:spTree>
    <p:extLst>
      <p:ext uri="{BB962C8B-B14F-4D97-AF65-F5344CB8AC3E}">
        <p14:creationId xmlns:p14="http://schemas.microsoft.com/office/powerpoint/2010/main" val="3750928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3/14/2026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57592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14/03/2026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28856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7107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52293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9870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97476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BE36FD2-5CF9-42B6-267C-75A9A8826A1C}"/>
              </a:ext>
            </a:extLst>
          </p:cNvPr>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a:extLst>
              <a:ext uri="{FF2B5EF4-FFF2-40B4-BE49-F238E27FC236}">
                <a16:creationId xmlns:a16="http://schemas.microsoft.com/office/drawing/2014/main" id="{85F6CF07-40A9-24A4-F336-0BDA8D93267D}"/>
              </a:ext>
            </a:extLst>
          </p:cNvPr>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10;&#10;AI-generated content may be incorrect.">
            <a:extLst>
              <a:ext uri="{FF2B5EF4-FFF2-40B4-BE49-F238E27FC236}">
                <a16:creationId xmlns:a16="http://schemas.microsoft.com/office/drawing/2014/main" id="{66C649D9-DD8B-5B7D-F409-A3797AEF3D36}"/>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7"/>
    </p:custDataLst>
    <p:extLst>
      <p:ext uri="{BB962C8B-B14F-4D97-AF65-F5344CB8AC3E}">
        <p14:creationId xmlns:p14="http://schemas.microsoft.com/office/powerpoint/2010/main" val="3478975145"/>
      </p:ext>
    </p:extLst>
  </p:cSld>
  <p:clrMap bg1="lt1" tx1="dk1" bg2="lt2" tx2="dk2" accent1="accent1" accent2="accent2" accent3="accent3" accent4="accent4" accent5="accent5" accent6="accent6" hlink="hlink" folHlink="folHlink"/>
  <p:sldLayoutIdLst>
    <p:sldLayoutId id="2147483651" r:id="rId1"/>
    <p:sldLayoutId id="2147483665" r:id="rId2"/>
    <p:sldLayoutId id="2147483666" r:id="rId3"/>
    <p:sldLayoutId id="2147483667" r:id="rId4"/>
    <p:sldLayoutId id="2147483668"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5179268"/>
      </p:ext>
    </p:extLst>
  </p:cSld>
  <p:clrMap bg1="lt1" tx1="dk1" bg2="lt2" tx2="dk2" accent1="accent1" accent2="accent2" accent3="accent3" accent4="accent4" accent5="accent5" accent6="accent6" hlink="hlink" folHlink="folHlink"/>
  <p:sldLayoutIdLst>
    <p:sldLayoutId id="2147483653" r:id="rId1"/>
    <p:sldLayoutId id="2147483662" r:id="rId2"/>
    <p:sldLayoutId id="2147483663" r:id="rId3"/>
    <p:sldLayoutId id="2147483664"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4.xml"/><Relationship Id="rId5" Type="http://schemas.openxmlformats.org/officeDocument/2006/relationships/image" Target="../media/image2.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DulamVignesh/Lakshya-Student-Success-Analytics.git" TargetMode="External"/><Relationship Id="rId2" Type="http://schemas.openxmlformats.org/officeDocument/2006/relationships/hyperlink" Target="https://learn.microsoft.com/power-bi/" TargetMode="External"/><Relationship Id="rId1" Type="http://schemas.openxmlformats.org/officeDocument/2006/relationships/slideLayout" Target="../slideLayouts/slideLayout3.xml"/><Relationship Id="rId4" Type="http://schemas.openxmlformats.org/officeDocument/2006/relationships/hyperlink" Target="https://drive.google.com/drive/folders/1u1i5TWH_he9Ny1CLAy5biMvtrTjWbc2?usp=sharing" TargetMode="Externa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940A069D-B6C2-7B0A-6719-9C65A27E0952}"/>
              </a:ext>
            </a:extLst>
          </p:cNvPr>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55C78EFA-3B33-383D-31A6-F48EC0533950}"/>
              </a:ext>
            </a:extLst>
          </p:cNvPr>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7DD7732-9B23-40F7-1FF7-FD50BDC193D8}"/>
              </a:ext>
            </a:extLst>
          </p:cNvPr>
          <p:cNvSpPr/>
          <p:nvPr/>
        </p:nvSpPr>
        <p:spPr>
          <a:xfrm>
            <a:off x="7913913" y="0"/>
            <a:ext cx="498565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2DA2A85-6D5C-2987-0FF8-3AF240456D3B}"/>
              </a:ext>
            </a:extLst>
          </p:cNvPr>
          <p:cNvSpPr/>
          <p:nvPr/>
        </p:nvSpPr>
        <p:spPr>
          <a:xfrm>
            <a:off x="-32657" y="6509659"/>
            <a:ext cx="12888684"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black background with grey text&#10;&#10;AI-generated content may be incorrect.">
            <a:extLst>
              <a:ext uri="{FF2B5EF4-FFF2-40B4-BE49-F238E27FC236}">
                <a16:creationId xmlns:a16="http://schemas.microsoft.com/office/drawing/2014/main" id="{4D362339-2CD4-BEA9-8BCD-81A300A3C9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7304" y="316620"/>
            <a:ext cx="1725854" cy="562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1DC6ABD-215C-4EA8-A483-CEF5B99AB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a:extLst>
              <a:ext uri="{FF2B5EF4-FFF2-40B4-BE49-F238E27FC236}">
                <a16:creationId xmlns:a16="http://schemas.microsoft.com/office/drawing/2014/main" id="{0F837936-4230-3A98-A2A1-6E77E027B36D}"/>
              </a:ext>
            </a:extLst>
          </p:cNvPr>
          <p:cNvSpPr>
            <a:spLocks noGrp="1"/>
          </p:cNvSpPr>
          <p:nvPr/>
        </p:nvSpPr>
        <p:spPr>
          <a:xfrm>
            <a:off x="594127" y="866946"/>
            <a:ext cx="4746772" cy="2506766"/>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kern="1200" dirty="0">
                <a:latin typeface="+mj-lt"/>
                <a:ea typeface="+mj-ea"/>
                <a:cs typeface="+mj-cs"/>
              </a:rPr>
              <a:t>CAPSTONE </a:t>
            </a:r>
            <a:r>
              <a:rPr lang="en-US" sz="2800" b="1" dirty="0"/>
              <a:t>PROJECT</a:t>
            </a:r>
            <a:endParaRPr lang="en-US" sz="5100" dirty="0">
              <a:latin typeface="Aptos"/>
            </a:endParaRPr>
          </a:p>
          <a:p>
            <a:pPr algn="l"/>
            <a:br>
              <a:rPr lang="en-US" sz="5100" b="1" dirty="0"/>
            </a:br>
            <a:r>
              <a:rPr lang="en-US" sz="5100" b="1" cap="all" dirty="0">
                <a:latin typeface="Aptos"/>
              </a:rPr>
              <a:t>LAKSHYA</a:t>
            </a:r>
            <a:endParaRPr lang="en-US" sz="5100" dirty="0">
              <a:latin typeface="Aptos"/>
            </a:endParaRPr>
          </a:p>
          <a:p>
            <a:pPr algn="l"/>
            <a:r>
              <a:rPr lang="en-IN" sz="1800" b="1" dirty="0">
                <a:effectLst/>
                <a:latin typeface="Constantia" panose="02030602050306030303" pitchFamily="18" charset="0"/>
              </a:rPr>
              <a:t>Student Success Analytics</a:t>
            </a:r>
            <a:endParaRPr lang="en-US" sz="3600" b="1" kern="1200" dirty="0"/>
          </a:p>
        </p:txBody>
      </p:sp>
      <p:sp>
        <p:nvSpPr>
          <p:cNvPr id="5" name="Subtitle 2">
            <a:extLst>
              <a:ext uri="{FF2B5EF4-FFF2-40B4-BE49-F238E27FC236}">
                <a16:creationId xmlns:a16="http://schemas.microsoft.com/office/drawing/2014/main" id="{3A663A0C-3931-F8E6-391C-2FF1FDBB09CD}"/>
              </a:ext>
            </a:extLst>
          </p:cNvPr>
          <p:cNvSpPr>
            <a:spLocks noGrp="1"/>
          </p:cNvSpPr>
          <p:nvPr/>
        </p:nvSpPr>
        <p:spPr>
          <a:xfrm>
            <a:off x="594126" y="3739889"/>
            <a:ext cx="4955758" cy="2506766"/>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600" b="1" cap="all" dirty="0"/>
              <a:t>Presented By</a:t>
            </a:r>
            <a:endParaRPr lang="en-US" sz="1600" cap="all" dirty="0"/>
          </a:p>
          <a:p>
            <a:pPr algn="l">
              <a:spcAft>
                <a:spcPts val="600"/>
              </a:spcAft>
            </a:pPr>
            <a:r>
              <a:rPr lang="en-US" sz="1600" b="1" cap="all" dirty="0"/>
              <a:t>Student Name: DULAM VIGNESH</a:t>
            </a:r>
          </a:p>
          <a:p>
            <a:pPr algn="l">
              <a:spcAft>
                <a:spcPts val="600"/>
              </a:spcAft>
            </a:pPr>
            <a:r>
              <a:rPr lang="en-US" sz="1600" b="1" cap="all" dirty="0"/>
              <a:t>College Name: MALLA REDDY COLLEGE OF 	           	           Engineering and technology </a:t>
            </a:r>
          </a:p>
          <a:p>
            <a:pPr algn="l">
              <a:spcAft>
                <a:spcPts val="600"/>
              </a:spcAft>
            </a:pPr>
            <a:r>
              <a:rPr lang="en-US" sz="1600" b="1" cap="all" dirty="0"/>
              <a:t>Department: computer science  and engineering</a:t>
            </a:r>
          </a:p>
          <a:p>
            <a:pPr algn="l">
              <a:spcAft>
                <a:spcPts val="600"/>
              </a:spcAft>
            </a:pPr>
            <a:r>
              <a:rPr lang="en-US" sz="1600" b="1" cap="all" dirty="0"/>
              <a:t>Email ID:  </a:t>
            </a:r>
            <a:r>
              <a:rPr lang="en-US" sz="1600" b="1" dirty="0"/>
              <a:t>dulamvignesh2004@gmail.com</a:t>
            </a:r>
            <a:endParaRPr lang="en-US" sz="1600" b="1" cap="all" dirty="0"/>
          </a:p>
        </p:txBody>
      </p:sp>
      <p:sp>
        <p:nvSpPr>
          <p:cNvPr id="8" name="Rectangle 7">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6" name="Picture 5">
            <a:extLst>
              <a:ext uri="{FF2B5EF4-FFF2-40B4-BE49-F238E27FC236}">
                <a16:creationId xmlns:a16="http://schemas.microsoft.com/office/drawing/2014/main" id="{D3A44A43-50B0-4FAD-B65C-79CF3E80500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42118" y="786585"/>
            <a:ext cx="4154682" cy="4936489"/>
          </a:xfrm>
          <a:prstGeom prst="rect">
            <a:avLst/>
          </a:prstGeom>
          <a:ln>
            <a:noFill/>
          </a:ln>
          <a:effectLst>
            <a:outerShdw blurRad="190500" algn="tl" rotWithShape="0">
              <a:srgbClr val="000000">
                <a:alpha val="70000"/>
              </a:srgbClr>
            </a:outerShdw>
          </a:effectLst>
        </p:spPr>
      </p:pic>
    </p:spTree>
    <p:custDataLst>
      <p:tags r:id="rId1"/>
    </p:custDataLst>
    <p:extLst>
      <p:ext uri="{BB962C8B-B14F-4D97-AF65-F5344CB8AC3E}">
        <p14:creationId xmlns:p14="http://schemas.microsoft.com/office/powerpoint/2010/main" val="2310333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E0E59-694D-9DFE-4488-37D5F2F480A7}"/>
              </a:ext>
            </a:extLst>
          </p:cNvPr>
          <p:cNvSpPr>
            <a:spLocks noGrp="1"/>
          </p:cNvSpPr>
          <p:nvPr>
            <p:ph type="title"/>
          </p:nvPr>
        </p:nvSpPr>
        <p:spPr>
          <a:xfrm>
            <a:off x="-1191" y="698500"/>
            <a:ext cx="10515600" cy="1325563"/>
          </a:xfrm>
        </p:spPr>
        <p:txBody>
          <a:bodyPr lIns="91440" tIns="45720" rIns="91440" bIns="45720" anchor="t">
            <a:normAutofit/>
          </a:bodyPr>
          <a:lstStyle/>
          <a:p>
            <a:r>
              <a:rPr lang="en-US" sz="5400" b="1" cap="all" dirty="0">
                <a:latin typeface="Arial"/>
                <a:cs typeface="Arial"/>
              </a:rPr>
              <a:t>OUTLINE:</a:t>
            </a:r>
            <a:endParaRPr lang="en-US" sz="5400" dirty="0"/>
          </a:p>
        </p:txBody>
      </p:sp>
      <p:sp>
        <p:nvSpPr>
          <p:cNvPr id="3" name="Content Placeholder 2">
            <a:extLst>
              <a:ext uri="{FF2B5EF4-FFF2-40B4-BE49-F238E27FC236}">
                <a16:creationId xmlns:a16="http://schemas.microsoft.com/office/drawing/2014/main" id="{1C04173D-62A9-AF06-B476-EEB827087147}"/>
              </a:ext>
            </a:extLst>
          </p:cNvPr>
          <p:cNvSpPr>
            <a:spLocks noGrp="1"/>
          </p:cNvSpPr>
          <p:nvPr>
            <p:ph idx="1"/>
          </p:nvPr>
        </p:nvSpPr>
        <p:spPr>
          <a:xfrm>
            <a:off x="433387" y="1822228"/>
            <a:ext cx="10515600" cy="4251960"/>
          </a:xfrm>
        </p:spPr>
        <p:txBody>
          <a:bodyPr vert="horz" lIns="91440" tIns="45720" rIns="91440" bIns="45720" rtlCol="0">
            <a:normAutofit/>
          </a:bodyPr>
          <a:lstStyle/>
          <a:p>
            <a:pPr marL="305435" indent="-305435">
              <a:spcBef>
                <a:spcPct val="20000"/>
              </a:spcBef>
              <a:spcAft>
                <a:spcPts val="600"/>
              </a:spcAft>
            </a:pPr>
            <a:r>
              <a:rPr lang="en-US" sz="2200" b="1" dirty="0">
                <a:latin typeface="Arial"/>
                <a:cs typeface="Arial"/>
              </a:rPr>
              <a:t>Problem Statement </a:t>
            </a:r>
            <a:endParaRPr lang="en-US" sz="2200" dirty="0">
              <a:latin typeface="Arial"/>
              <a:cs typeface="Arial"/>
            </a:endParaRPr>
          </a:p>
          <a:p>
            <a:pPr marL="305435" indent="-305435">
              <a:spcBef>
                <a:spcPct val="20000"/>
              </a:spcBef>
              <a:spcAft>
                <a:spcPts val="600"/>
              </a:spcAft>
            </a:pPr>
            <a:r>
              <a:rPr lang="en-US" sz="2200" b="1" dirty="0">
                <a:latin typeface="Arial"/>
                <a:cs typeface="Arial"/>
              </a:rPr>
              <a:t>Proposed System/Solution</a:t>
            </a:r>
            <a:endParaRPr lang="en-US" sz="2200" dirty="0">
              <a:latin typeface="Arial"/>
              <a:cs typeface="Arial"/>
            </a:endParaRPr>
          </a:p>
          <a:p>
            <a:pPr marL="305435" indent="-305435">
              <a:spcBef>
                <a:spcPct val="20000"/>
              </a:spcBef>
              <a:spcAft>
                <a:spcPts val="600"/>
              </a:spcAft>
            </a:pPr>
            <a:r>
              <a:rPr lang="en-US" sz="2200" b="1" dirty="0">
                <a:latin typeface="Arial"/>
                <a:cs typeface="Arial"/>
              </a:rPr>
              <a:t>System Development Approach </a:t>
            </a:r>
            <a:r>
              <a:rPr lang="en-US" sz="2200" dirty="0">
                <a:latin typeface="Arial"/>
                <a:cs typeface="Arial"/>
              </a:rPr>
              <a:t>(Technology Used) </a:t>
            </a:r>
          </a:p>
          <a:p>
            <a:pPr marL="305435" indent="-305435">
              <a:spcBef>
                <a:spcPct val="20000"/>
              </a:spcBef>
              <a:spcAft>
                <a:spcPts val="600"/>
              </a:spcAft>
            </a:pPr>
            <a:r>
              <a:rPr lang="en-US" sz="2200" b="1" dirty="0">
                <a:latin typeface="Arial"/>
                <a:cs typeface="Arial"/>
              </a:rPr>
              <a:t>Report and Analysis</a:t>
            </a:r>
          </a:p>
          <a:p>
            <a:pPr marL="305435" indent="-305435">
              <a:spcBef>
                <a:spcPct val="20000"/>
              </a:spcBef>
              <a:spcAft>
                <a:spcPts val="600"/>
              </a:spcAft>
            </a:pPr>
            <a:r>
              <a:rPr lang="en-US" sz="2200" b="1" dirty="0">
                <a:latin typeface="Arial"/>
                <a:cs typeface="Arial"/>
              </a:rPr>
              <a:t>Result (Output Image)</a:t>
            </a:r>
            <a:endParaRPr lang="en-US" sz="2200" dirty="0">
              <a:latin typeface="Arial"/>
              <a:cs typeface="Arial"/>
            </a:endParaRPr>
          </a:p>
          <a:p>
            <a:pPr marL="305435" indent="-305435">
              <a:spcBef>
                <a:spcPct val="20000"/>
              </a:spcBef>
              <a:spcAft>
                <a:spcPts val="600"/>
              </a:spcAft>
            </a:pPr>
            <a:r>
              <a:rPr lang="en-US" sz="2200" b="1" dirty="0">
                <a:latin typeface="Arial"/>
                <a:cs typeface="Arial"/>
              </a:rPr>
              <a:t>Conclusion</a:t>
            </a:r>
            <a:endParaRPr lang="en-US" sz="2200" dirty="0">
              <a:latin typeface="Arial"/>
              <a:cs typeface="Arial"/>
            </a:endParaRPr>
          </a:p>
          <a:p>
            <a:pPr marL="305435" indent="-305435">
              <a:spcBef>
                <a:spcPct val="20000"/>
              </a:spcBef>
              <a:spcAft>
                <a:spcPts val="600"/>
              </a:spcAft>
            </a:pPr>
            <a:r>
              <a:rPr lang="en-US" sz="2200" b="1" dirty="0">
                <a:latin typeface="Arial"/>
                <a:cs typeface="Arial"/>
              </a:rPr>
              <a:t>Future Scope</a:t>
            </a:r>
            <a:endParaRPr lang="en-US" sz="2200" dirty="0">
              <a:latin typeface="Arial"/>
              <a:cs typeface="Arial"/>
            </a:endParaRPr>
          </a:p>
          <a:p>
            <a:pPr marL="305435" indent="-305435">
              <a:spcBef>
                <a:spcPct val="20000"/>
              </a:spcBef>
              <a:spcAft>
                <a:spcPts val="600"/>
              </a:spcAft>
            </a:pPr>
            <a:r>
              <a:rPr lang="en-US" sz="2200" b="1" dirty="0">
                <a:latin typeface="Arial"/>
                <a:cs typeface="Arial"/>
              </a:rPr>
              <a:t>References</a:t>
            </a:r>
            <a:endParaRPr lang="en-US" sz="2200" dirty="0">
              <a:latin typeface="Arial"/>
              <a:cs typeface="Arial"/>
            </a:endParaRPr>
          </a:p>
          <a:p>
            <a:endParaRPr lang="en-GB" sz="2200" dirty="0">
              <a:latin typeface="Aptos" panose="020B0004020202020204"/>
              <a:cs typeface="Arial"/>
            </a:endParaRPr>
          </a:p>
        </p:txBody>
      </p:sp>
    </p:spTree>
    <p:extLst>
      <p:ext uri="{BB962C8B-B14F-4D97-AF65-F5344CB8AC3E}">
        <p14:creationId xmlns:p14="http://schemas.microsoft.com/office/powerpoint/2010/main" val="2817874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9B35C-A00A-C6C7-8532-576758ED4255}"/>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a:cs typeface="Arial"/>
              </a:rPr>
              <a:t>Problem Statement:</a:t>
            </a:r>
            <a:endParaRPr lang="en-US" sz="4000"/>
          </a:p>
        </p:txBody>
      </p:sp>
      <p:sp>
        <p:nvSpPr>
          <p:cNvPr id="3" name="Content Placeholder 2">
            <a:extLst>
              <a:ext uri="{FF2B5EF4-FFF2-40B4-BE49-F238E27FC236}">
                <a16:creationId xmlns:a16="http://schemas.microsoft.com/office/drawing/2014/main" id="{28E8C97F-5AC9-F1CA-3CCC-090D5B13989A}"/>
              </a:ext>
            </a:extLst>
          </p:cNvPr>
          <p:cNvSpPr>
            <a:spLocks noGrp="1"/>
          </p:cNvSpPr>
          <p:nvPr>
            <p:ph idx="1"/>
          </p:nvPr>
        </p:nvSpPr>
        <p:spPr>
          <a:xfrm>
            <a:off x="290512" y="1715071"/>
            <a:ext cx="10515600" cy="4251960"/>
          </a:xfrm>
        </p:spPr>
        <p:txBody>
          <a:bodyPr vert="horz" lIns="91440" tIns="45720" rIns="91440" bIns="45720" rtlCol="0">
            <a:normAutofit/>
          </a:bodyPr>
          <a:lstStyle/>
          <a:p>
            <a:pPr marL="0" indent="0" algn="just">
              <a:lnSpc>
                <a:spcPct val="150000"/>
              </a:lnSpc>
              <a:buNone/>
            </a:pPr>
            <a:r>
              <a:rPr lang="en-US" sz="2400" dirty="0">
                <a:latin typeface="Times New Roman" panose="02020603050405020304" pitchFamily="18" charset="0"/>
                <a:cs typeface="Times New Roman" panose="02020603050405020304" pitchFamily="18" charset="0"/>
              </a:rPr>
              <a:t>Educational institutions collect extensive student data such as academic scores, attendance, and skill assessments, but this data is often not effectively analyzed to generate actionable insights. As a result, identifying students at risk of poor performance or dropout becomes challenging. Additionally, the lack of structured analysis limits the ability to provide effective academic and career guidance. A data-driven analytical approach is therefore required to visualize student performance trends, identify potential risks, and support better decision-making.</a:t>
            </a:r>
          </a:p>
        </p:txBody>
      </p:sp>
    </p:spTree>
    <p:extLst>
      <p:ext uri="{BB962C8B-B14F-4D97-AF65-F5344CB8AC3E}">
        <p14:creationId xmlns:p14="http://schemas.microsoft.com/office/powerpoint/2010/main" val="3372914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7B4B1-584E-2479-D762-2265C7398D27}"/>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a:cs typeface="Arial"/>
              </a:rPr>
              <a:t>Proposed Solution:</a:t>
            </a:r>
            <a:endParaRPr lang="en-US" sz="4000" dirty="0"/>
          </a:p>
        </p:txBody>
      </p:sp>
      <p:sp>
        <p:nvSpPr>
          <p:cNvPr id="3" name="Content Placeholder 2">
            <a:extLst>
              <a:ext uri="{FF2B5EF4-FFF2-40B4-BE49-F238E27FC236}">
                <a16:creationId xmlns:a16="http://schemas.microsoft.com/office/drawing/2014/main" id="{AF67202D-4065-DDD7-98F1-4291C536D1A3}"/>
              </a:ext>
            </a:extLst>
          </p:cNvPr>
          <p:cNvSpPr>
            <a:spLocks noGrp="1"/>
          </p:cNvSpPr>
          <p:nvPr>
            <p:ph idx="1"/>
          </p:nvPr>
        </p:nvSpPr>
        <p:spPr>
          <a:xfrm>
            <a:off x="219075" y="1304305"/>
            <a:ext cx="10515600" cy="5356471"/>
          </a:xfrm>
        </p:spPr>
        <p:txBody>
          <a:bodyPr vert="horz" lIns="91440" tIns="45720" rIns="91440" bIns="45720" rtlCol="0" anchor="t">
            <a:noAutofit/>
          </a:bodyPr>
          <a:lstStyle/>
          <a:p>
            <a:pPr marL="0" indent="0" algn="just">
              <a:lnSpc>
                <a:spcPct val="100000"/>
              </a:lnSpc>
              <a:buNone/>
            </a:pPr>
            <a:r>
              <a:rPr lang="en-US" sz="1200" dirty="0">
                <a:latin typeface="Times New Roman" panose="02020603050405020304" pitchFamily="18" charset="0"/>
                <a:cs typeface="Times New Roman" panose="02020603050405020304" pitchFamily="18" charset="0"/>
              </a:rPr>
              <a:t>The proposed system, </a:t>
            </a:r>
            <a:r>
              <a:rPr lang="en-US" sz="1200" b="1" dirty="0">
                <a:latin typeface="Times New Roman" panose="02020603050405020304" pitchFamily="18" charset="0"/>
                <a:cs typeface="Times New Roman" panose="02020603050405020304" pitchFamily="18" charset="0"/>
              </a:rPr>
              <a:t>Lakshya – Student Success Analytics Dashboard</a:t>
            </a:r>
            <a:r>
              <a:rPr lang="en-US" sz="1200" dirty="0">
                <a:latin typeface="Times New Roman" panose="02020603050405020304" pitchFamily="18" charset="0"/>
                <a:cs typeface="Times New Roman" panose="02020603050405020304" pitchFamily="18" charset="0"/>
              </a:rPr>
              <a:t>, transforms raw student data into meaningful insights using </a:t>
            </a:r>
            <a:r>
              <a:rPr lang="en-US" sz="1200" b="1" dirty="0">
                <a:latin typeface="Times New Roman" panose="02020603050405020304" pitchFamily="18" charset="0"/>
                <a:cs typeface="Times New Roman" panose="02020603050405020304" pitchFamily="18" charset="0"/>
              </a:rPr>
              <a:t>data analytics and interactive Power BI visualizations</a:t>
            </a:r>
            <a:r>
              <a:rPr lang="en-US" sz="1200" dirty="0">
                <a:latin typeface="Times New Roman" panose="02020603050405020304" pitchFamily="18" charset="0"/>
                <a:cs typeface="Times New Roman" panose="02020603050405020304" pitchFamily="18" charset="0"/>
              </a:rPr>
              <a:t>. The system helps educational institutions monitor student performance, identify potential dropout risks, and support effective academic and career guidance.</a:t>
            </a:r>
          </a:p>
          <a:p>
            <a:pPr marL="0" indent="0" algn="just">
              <a:lnSpc>
                <a:spcPct val="100000"/>
              </a:lnSpc>
              <a:buNone/>
            </a:pPr>
            <a:r>
              <a:rPr lang="en-US" sz="1200" b="1" dirty="0">
                <a:latin typeface="Times New Roman" panose="02020603050405020304" pitchFamily="18" charset="0"/>
                <a:cs typeface="Times New Roman" panose="02020603050405020304" pitchFamily="18" charset="0"/>
              </a:rPr>
              <a:t>Key Components:</a:t>
            </a:r>
            <a:endParaRPr lang="en-US" sz="1200" dirty="0">
              <a:latin typeface="Times New Roman" panose="02020603050405020304" pitchFamily="18" charset="0"/>
              <a:cs typeface="Times New Roman" panose="02020603050405020304" pitchFamily="18" charset="0"/>
            </a:endParaRPr>
          </a:p>
          <a:p>
            <a:pPr algn="just">
              <a:lnSpc>
                <a:spcPct val="100000"/>
              </a:lnSpc>
              <a:buFont typeface="Wingdings" panose="05000000000000000000" pitchFamily="2" charset="2"/>
              <a:buChar char="q"/>
            </a:pPr>
            <a:r>
              <a:rPr lang="en-US" sz="1200" b="1" dirty="0">
                <a:latin typeface="Times New Roman" panose="02020603050405020304" pitchFamily="18" charset="0"/>
                <a:cs typeface="Times New Roman" panose="02020603050405020304" pitchFamily="18" charset="0"/>
              </a:rPr>
              <a:t>Data Collection</a:t>
            </a:r>
            <a:endParaRPr lang="en-US" sz="1200" dirty="0">
              <a:latin typeface="Times New Roman" panose="02020603050405020304" pitchFamily="18" charset="0"/>
              <a:cs typeface="Times New Roman" panose="02020603050405020304" pitchFamily="18" charset="0"/>
            </a:endParaRPr>
          </a:p>
          <a:p>
            <a:pPr algn="just">
              <a:lnSpc>
                <a:spcPct val="100000"/>
              </a:lnSpc>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Collect student data such as academic scores, attendance, skills, engagement levels, and demographic information.</a:t>
            </a:r>
          </a:p>
          <a:p>
            <a:pPr algn="just">
              <a:lnSpc>
                <a:spcPct val="100000"/>
              </a:lnSpc>
              <a:buFont typeface="Wingdings" panose="05000000000000000000" pitchFamily="2" charset="2"/>
              <a:buChar char="q"/>
            </a:pPr>
            <a:r>
              <a:rPr lang="en-US" sz="1200" b="1" dirty="0">
                <a:latin typeface="Times New Roman" panose="02020603050405020304" pitchFamily="18" charset="0"/>
                <a:cs typeface="Times New Roman" panose="02020603050405020304" pitchFamily="18" charset="0"/>
              </a:rPr>
              <a:t>Data Preparation</a:t>
            </a:r>
            <a:endParaRPr lang="en-US" sz="1200" dirty="0">
              <a:latin typeface="Times New Roman" panose="02020603050405020304" pitchFamily="18" charset="0"/>
              <a:cs typeface="Times New Roman" panose="02020603050405020304" pitchFamily="18" charset="0"/>
            </a:endParaRPr>
          </a:p>
          <a:p>
            <a:pPr algn="just">
              <a:lnSpc>
                <a:spcPct val="100000"/>
              </a:lnSpc>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Clean and organize the dataset to handle missing values and categorize data into departments, score ranges, and attendance groups.</a:t>
            </a:r>
          </a:p>
          <a:p>
            <a:pPr algn="just">
              <a:lnSpc>
                <a:spcPct val="100000"/>
              </a:lnSpc>
              <a:buFont typeface="Wingdings" panose="05000000000000000000" pitchFamily="2" charset="2"/>
              <a:buChar char="q"/>
            </a:pPr>
            <a:r>
              <a:rPr lang="en-US" sz="1200" b="1" dirty="0">
                <a:latin typeface="Times New Roman" panose="02020603050405020304" pitchFamily="18" charset="0"/>
                <a:cs typeface="Times New Roman" panose="02020603050405020304" pitchFamily="18" charset="0"/>
              </a:rPr>
              <a:t>Data Analysis</a:t>
            </a:r>
            <a:endParaRPr lang="en-US" sz="1200" dirty="0">
              <a:latin typeface="Times New Roman" panose="02020603050405020304" pitchFamily="18" charset="0"/>
              <a:cs typeface="Times New Roman" panose="02020603050405020304" pitchFamily="18" charset="0"/>
            </a:endParaRPr>
          </a:p>
          <a:p>
            <a:pPr algn="just">
              <a:lnSpc>
                <a:spcPct val="100000"/>
              </a:lnSpc>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Analyze relationships between attendance, academic performance, skills, and engagement to identify patterns and potential risks.</a:t>
            </a:r>
          </a:p>
          <a:p>
            <a:pPr algn="just">
              <a:lnSpc>
                <a:spcPct val="100000"/>
              </a:lnSpc>
              <a:buFont typeface="Wingdings" panose="05000000000000000000" pitchFamily="2" charset="2"/>
              <a:buChar char="q"/>
            </a:pPr>
            <a:r>
              <a:rPr lang="en-US" sz="1200" b="1" dirty="0">
                <a:latin typeface="Times New Roman" panose="02020603050405020304" pitchFamily="18" charset="0"/>
                <a:cs typeface="Times New Roman" panose="02020603050405020304" pitchFamily="18" charset="0"/>
              </a:rPr>
              <a:t>Dashboard Development</a:t>
            </a:r>
            <a:endParaRPr lang="en-US" sz="1200" dirty="0">
              <a:latin typeface="Times New Roman" panose="02020603050405020304" pitchFamily="18" charset="0"/>
              <a:cs typeface="Times New Roman" panose="02020603050405020304" pitchFamily="18" charset="0"/>
            </a:endParaRPr>
          </a:p>
          <a:p>
            <a:pPr algn="just">
              <a:lnSpc>
                <a:spcPct val="100000"/>
              </a:lnSpc>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Build an interactive </a:t>
            </a:r>
            <a:r>
              <a:rPr lang="en-US" sz="1200" b="1" dirty="0">
                <a:latin typeface="Times New Roman" panose="02020603050405020304" pitchFamily="18" charset="0"/>
                <a:cs typeface="Times New Roman" panose="02020603050405020304" pitchFamily="18" charset="0"/>
              </a:rPr>
              <a:t>Power BI dashboard</a:t>
            </a:r>
            <a:r>
              <a:rPr lang="en-US" sz="1200" dirty="0">
                <a:latin typeface="Times New Roman" panose="02020603050405020304" pitchFamily="18" charset="0"/>
                <a:cs typeface="Times New Roman" panose="02020603050405020304" pitchFamily="18" charset="0"/>
              </a:rPr>
              <a:t> with visual insights including:</a:t>
            </a:r>
          </a:p>
          <a:p>
            <a:pPr marL="742950" lvl="1" indent="-285750" algn="just">
              <a:lnSpc>
                <a:spcPct val="100000"/>
              </a:lnSpc>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Executive Overview</a:t>
            </a:r>
          </a:p>
          <a:p>
            <a:pPr marL="742950" lvl="1" indent="-285750" algn="just">
              <a:lnSpc>
                <a:spcPct val="100000"/>
              </a:lnSpc>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Academic Performance &amp; Skills Analysis</a:t>
            </a:r>
          </a:p>
          <a:p>
            <a:pPr marL="742950" lvl="1" indent="-285750" algn="just">
              <a:lnSpc>
                <a:spcPct val="100000"/>
              </a:lnSpc>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Dropout Risk &amp; Career Insights</a:t>
            </a:r>
          </a:p>
          <a:p>
            <a:pPr algn="just">
              <a:lnSpc>
                <a:spcPct val="100000"/>
              </a:lnSpc>
              <a:buFont typeface="Wingdings" panose="05000000000000000000" pitchFamily="2" charset="2"/>
              <a:buChar char="q"/>
            </a:pPr>
            <a:r>
              <a:rPr lang="en-US" sz="1200" b="1" dirty="0">
                <a:latin typeface="Times New Roman" panose="02020603050405020304" pitchFamily="18" charset="0"/>
                <a:cs typeface="Times New Roman" panose="02020603050405020304" pitchFamily="18" charset="0"/>
              </a:rPr>
              <a:t>Interactive Insights</a:t>
            </a:r>
            <a:endParaRPr lang="en-US" sz="1200" dirty="0">
              <a:latin typeface="Times New Roman" panose="02020603050405020304" pitchFamily="18" charset="0"/>
              <a:cs typeface="Times New Roman" panose="02020603050405020304" pitchFamily="18" charset="0"/>
            </a:endParaRPr>
          </a:p>
          <a:p>
            <a:pPr algn="just">
              <a:lnSpc>
                <a:spcPct val="100000"/>
              </a:lnSpc>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Use filters and slicers to allow users to explore data dynamically and support </a:t>
            </a:r>
            <a:r>
              <a:rPr lang="en-US" sz="1200" b="1" dirty="0">
                <a:latin typeface="Times New Roman" panose="02020603050405020304" pitchFamily="18" charset="0"/>
                <a:cs typeface="Times New Roman" panose="02020603050405020304" pitchFamily="18" charset="0"/>
              </a:rPr>
              <a:t>data-driven decision making</a:t>
            </a:r>
            <a:r>
              <a:rPr lang="en-US" sz="1200" dirty="0">
                <a:latin typeface="Times New Roman" panose="02020603050405020304" pitchFamily="18" charset="0"/>
                <a:cs typeface="Times New Roman" panose="02020603050405020304" pitchFamily="18" charset="0"/>
              </a:rPr>
              <a:t>.</a:t>
            </a:r>
          </a:p>
          <a:p>
            <a:pPr algn="just">
              <a:lnSpc>
                <a:spcPct val="100000"/>
              </a:lnSpc>
              <a:buFont typeface="Wingdings" panose="05000000000000000000" pitchFamily="2" charset="2"/>
              <a:buChar char="q"/>
            </a:pPr>
            <a:r>
              <a:rPr lang="en-US" sz="1200" b="1" dirty="0">
                <a:latin typeface="Times New Roman" panose="02020603050405020304" pitchFamily="18" charset="0"/>
                <a:cs typeface="Times New Roman" panose="02020603050405020304" pitchFamily="18" charset="0"/>
              </a:rPr>
              <a:t>Result</a:t>
            </a:r>
            <a:endParaRPr lang="en-US" sz="1200" dirty="0">
              <a:latin typeface="Times New Roman" panose="02020603050405020304" pitchFamily="18" charset="0"/>
              <a:cs typeface="Times New Roman" panose="02020603050405020304" pitchFamily="18" charset="0"/>
            </a:endParaRPr>
          </a:p>
          <a:p>
            <a:pPr algn="just">
              <a:lnSpc>
                <a:spcPct val="100000"/>
              </a:lnSpc>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A visual analytics dashboard that helps institutions </a:t>
            </a:r>
            <a:r>
              <a:rPr lang="en-US" sz="1200" b="1" dirty="0">
                <a:latin typeface="Times New Roman" panose="02020603050405020304" pitchFamily="18" charset="0"/>
                <a:cs typeface="Times New Roman" panose="02020603050405020304" pitchFamily="18" charset="0"/>
              </a:rPr>
              <a:t>track student performance, detect at-risk students, and improve academic guidance</a:t>
            </a:r>
            <a:r>
              <a:rPr lang="en-US" sz="12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04139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92D15-41B4-89C1-0EA3-03BC9FA16F97}"/>
              </a:ext>
            </a:extLst>
          </p:cNvPr>
          <p:cNvSpPr>
            <a:spLocks noGrp="1"/>
          </p:cNvSpPr>
          <p:nvPr>
            <p:ph type="title"/>
          </p:nvPr>
        </p:nvSpPr>
        <p:spPr>
          <a:xfrm>
            <a:off x="-548" y="699528"/>
            <a:ext cx="10515600" cy="1325563"/>
          </a:xfrm>
        </p:spPr>
        <p:txBody>
          <a:bodyPr lIns="91440" tIns="45720" rIns="91440" bIns="45720" anchor="t">
            <a:normAutofit/>
          </a:bodyPr>
          <a:lstStyle/>
          <a:p>
            <a:r>
              <a:rPr lang="en-US" sz="4000" b="1" cap="all">
                <a:latin typeface="Arial"/>
                <a:cs typeface="Arial"/>
              </a:rPr>
              <a:t>System  Approach:</a:t>
            </a:r>
            <a:endParaRPr lang="en-US" sz="4000" dirty="0"/>
          </a:p>
        </p:txBody>
      </p:sp>
      <p:sp>
        <p:nvSpPr>
          <p:cNvPr id="3" name="Content Placeholder 2">
            <a:extLst>
              <a:ext uri="{FF2B5EF4-FFF2-40B4-BE49-F238E27FC236}">
                <a16:creationId xmlns:a16="http://schemas.microsoft.com/office/drawing/2014/main" id="{FE07E8EE-7F26-D809-3523-C58876935A4E}"/>
              </a:ext>
            </a:extLst>
          </p:cNvPr>
          <p:cNvSpPr>
            <a:spLocks noGrp="1"/>
          </p:cNvSpPr>
          <p:nvPr>
            <p:ph idx="1"/>
          </p:nvPr>
        </p:nvSpPr>
        <p:spPr>
          <a:xfrm>
            <a:off x="317409" y="1470212"/>
            <a:ext cx="10515600" cy="5154706"/>
          </a:xfrm>
        </p:spPr>
        <p:txBody>
          <a:bodyPr vert="horz" lIns="91440" tIns="45720" rIns="91440" bIns="45720" rtlCol="0">
            <a:normAutofit/>
          </a:bodyPr>
          <a:lstStyle/>
          <a:p>
            <a:pPr marL="0" indent="0" algn="just">
              <a:buNone/>
            </a:pPr>
            <a:r>
              <a:rPr lang="en-US" sz="1600" dirty="0">
                <a:latin typeface="Times New Roman" panose="02020603050405020304" pitchFamily="18" charset="0"/>
                <a:cs typeface="Times New Roman" panose="02020603050405020304" pitchFamily="18" charset="0"/>
              </a:rPr>
              <a:t>The system approach describes the methodology used to develop the </a:t>
            </a:r>
            <a:r>
              <a:rPr lang="en-US" sz="1600" b="1" dirty="0">
                <a:latin typeface="Times New Roman" panose="02020603050405020304" pitchFamily="18" charset="0"/>
                <a:cs typeface="Times New Roman" panose="02020603050405020304" pitchFamily="18" charset="0"/>
              </a:rPr>
              <a:t>Lakshya – Student Success Analytics Dashboard</a:t>
            </a:r>
            <a:r>
              <a:rPr lang="en-US" sz="1600" dirty="0">
                <a:latin typeface="Times New Roman" panose="02020603050405020304" pitchFamily="18" charset="0"/>
                <a:cs typeface="Times New Roman" panose="02020603050405020304" pitchFamily="18" charset="0"/>
              </a:rPr>
              <a:t> using data analytics and visualization techniques.</a:t>
            </a:r>
          </a:p>
          <a:p>
            <a:pPr marL="0" indent="0" algn="just">
              <a:buNone/>
            </a:pPr>
            <a:r>
              <a:rPr lang="en-US" sz="1600" b="1" dirty="0">
                <a:latin typeface="Times New Roman" panose="02020603050405020304" pitchFamily="18" charset="0"/>
                <a:cs typeface="Times New Roman" panose="02020603050405020304" pitchFamily="18" charset="0"/>
              </a:rPr>
              <a:t>System Requirements</a:t>
            </a:r>
            <a:endParaRPr lang="en-US" sz="1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Microsoft Power BI Desktop</a:t>
            </a:r>
          </a:p>
          <a:p>
            <a:pPr algn="just">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Student dataset (CSV/Excel format)</a:t>
            </a:r>
          </a:p>
          <a:p>
            <a:pPr algn="just">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Basic system with Windows OS and internet connectivity</a:t>
            </a:r>
          </a:p>
          <a:p>
            <a:pPr marL="0" indent="0" algn="just">
              <a:buNone/>
            </a:pPr>
            <a:r>
              <a:rPr lang="en-US" sz="1600" b="1" dirty="0">
                <a:latin typeface="Times New Roman" panose="02020603050405020304" pitchFamily="18" charset="0"/>
                <a:cs typeface="Times New Roman" panose="02020603050405020304" pitchFamily="18" charset="0"/>
              </a:rPr>
              <a:t>Tools &amp; Technologies Used</a:t>
            </a:r>
            <a:endParaRPr lang="en-US" sz="1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600" b="1" dirty="0">
                <a:latin typeface="Times New Roman" panose="02020603050405020304" pitchFamily="18" charset="0"/>
                <a:cs typeface="Times New Roman" panose="02020603050405020304" pitchFamily="18" charset="0"/>
              </a:rPr>
              <a:t>Power BI</a:t>
            </a:r>
            <a:r>
              <a:rPr lang="en-US" sz="1600" dirty="0">
                <a:latin typeface="Times New Roman" panose="02020603050405020304" pitchFamily="18" charset="0"/>
                <a:cs typeface="Times New Roman" panose="02020603050405020304" pitchFamily="18" charset="0"/>
              </a:rPr>
              <a:t> for data visualization and dashboard creation</a:t>
            </a:r>
          </a:p>
          <a:p>
            <a:pPr algn="just">
              <a:buFont typeface="Wingdings" panose="05000000000000000000" pitchFamily="2" charset="2"/>
              <a:buChar char="Ø"/>
            </a:pPr>
            <a:r>
              <a:rPr lang="en-US" sz="1600" b="1" dirty="0">
                <a:latin typeface="Times New Roman" panose="02020603050405020304" pitchFamily="18" charset="0"/>
                <a:cs typeface="Times New Roman" panose="02020603050405020304" pitchFamily="18" charset="0"/>
              </a:rPr>
              <a:t>Power Query</a:t>
            </a:r>
            <a:r>
              <a:rPr lang="en-US" sz="1600" dirty="0">
                <a:latin typeface="Times New Roman" panose="02020603050405020304" pitchFamily="18" charset="0"/>
                <a:cs typeface="Times New Roman" panose="02020603050405020304" pitchFamily="18" charset="0"/>
              </a:rPr>
              <a:t> for data cleaning and transformation</a:t>
            </a:r>
          </a:p>
          <a:p>
            <a:pPr algn="just">
              <a:buFont typeface="Wingdings" panose="05000000000000000000" pitchFamily="2" charset="2"/>
              <a:buChar char="Ø"/>
            </a:pPr>
            <a:r>
              <a:rPr lang="en-US" sz="1600" b="1" dirty="0">
                <a:latin typeface="Times New Roman" panose="02020603050405020304" pitchFamily="18" charset="0"/>
                <a:cs typeface="Times New Roman" panose="02020603050405020304" pitchFamily="18" charset="0"/>
              </a:rPr>
              <a:t>DAX (Data Analysis Expressions)</a:t>
            </a:r>
            <a:r>
              <a:rPr lang="en-US" sz="1600" dirty="0">
                <a:latin typeface="Times New Roman" panose="02020603050405020304" pitchFamily="18" charset="0"/>
                <a:cs typeface="Times New Roman" panose="02020603050405020304" pitchFamily="18" charset="0"/>
              </a:rPr>
              <a:t> for creating measures and calculations</a:t>
            </a:r>
          </a:p>
          <a:p>
            <a:pPr marL="0" indent="0" algn="just">
              <a:buNone/>
            </a:pPr>
            <a:r>
              <a:rPr lang="en-US" sz="1600" b="1" dirty="0">
                <a:latin typeface="Times New Roman" panose="02020603050405020304" pitchFamily="18" charset="0"/>
                <a:cs typeface="Times New Roman" panose="02020603050405020304" pitchFamily="18" charset="0"/>
              </a:rPr>
              <a:t>Dashboard Development Process</a:t>
            </a:r>
            <a:endParaRPr lang="en-US" sz="1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Import and preprocess the dataset in Power BI</a:t>
            </a:r>
          </a:p>
          <a:p>
            <a:pPr algn="just">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Create relationships and calculated measures</a:t>
            </a:r>
          </a:p>
          <a:p>
            <a:pPr algn="just">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Design interactive charts, graphs, and filters</a:t>
            </a:r>
          </a:p>
          <a:p>
            <a:pPr algn="just">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Build multiple dashboard pages for analysis and insights</a:t>
            </a:r>
          </a:p>
        </p:txBody>
      </p:sp>
    </p:spTree>
    <p:extLst>
      <p:ext uri="{BB962C8B-B14F-4D97-AF65-F5344CB8AC3E}">
        <p14:creationId xmlns:p14="http://schemas.microsoft.com/office/powerpoint/2010/main" val="3501125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DBEE6-616C-2711-86DB-C62E77D17F92}"/>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dirty="0">
                <a:latin typeface="Arial"/>
                <a:cs typeface="Arial"/>
              </a:rPr>
              <a:t>report &amp; analysis:</a:t>
            </a:r>
            <a:endParaRPr lang="en-US" sz="4000" dirty="0"/>
          </a:p>
        </p:txBody>
      </p:sp>
      <p:sp>
        <p:nvSpPr>
          <p:cNvPr id="3" name="Content Placeholder 2">
            <a:extLst>
              <a:ext uri="{FF2B5EF4-FFF2-40B4-BE49-F238E27FC236}">
                <a16:creationId xmlns:a16="http://schemas.microsoft.com/office/drawing/2014/main" id="{B5107410-DE3D-5F62-F9D7-11EAEA92F0BB}"/>
              </a:ext>
            </a:extLst>
          </p:cNvPr>
          <p:cNvSpPr>
            <a:spLocks noGrp="1"/>
          </p:cNvSpPr>
          <p:nvPr>
            <p:ph idx="1"/>
          </p:nvPr>
        </p:nvSpPr>
        <p:spPr>
          <a:xfrm>
            <a:off x="248769" y="1349375"/>
            <a:ext cx="11378453" cy="5602941"/>
          </a:xfrm>
        </p:spPr>
        <p:txBody>
          <a:bodyPr vert="horz" lIns="91440" tIns="45720" rIns="91440" bIns="45720" rtlCol="0">
            <a:noAutofit/>
          </a:bodyPr>
          <a:lstStyle/>
          <a:p>
            <a:pPr marL="0" indent="0">
              <a:lnSpc>
                <a:spcPct val="110000"/>
              </a:lnSpc>
              <a:buNone/>
            </a:pPr>
            <a:r>
              <a:rPr lang="en-US" sz="1400" dirty="0">
                <a:latin typeface="Times New Roman" panose="02020603050405020304" pitchFamily="18" charset="0"/>
                <a:cs typeface="Times New Roman" panose="02020603050405020304" pitchFamily="18" charset="0"/>
              </a:rPr>
              <a:t>The </a:t>
            </a:r>
            <a:r>
              <a:rPr lang="en-US" sz="1400" b="1" dirty="0">
                <a:latin typeface="Times New Roman" panose="02020603050405020304" pitchFamily="18" charset="0"/>
                <a:cs typeface="Times New Roman" panose="02020603050405020304" pitchFamily="18" charset="0"/>
              </a:rPr>
              <a:t>Lakshya – Student Success Analytics Dashboard</a:t>
            </a:r>
            <a:r>
              <a:rPr lang="en-US" sz="1400" dirty="0">
                <a:latin typeface="Times New Roman" panose="02020603050405020304" pitchFamily="18" charset="0"/>
                <a:cs typeface="Times New Roman" panose="02020603050405020304" pitchFamily="18" charset="0"/>
              </a:rPr>
              <a:t> analyzes student data to generate meaningful insights about academic performance, attendance, skills, and dropout risk.</a:t>
            </a:r>
          </a:p>
          <a:p>
            <a:pPr marL="0" indent="0">
              <a:lnSpc>
                <a:spcPct val="110000"/>
              </a:lnSpc>
              <a:buNone/>
            </a:pPr>
            <a:r>
              <a:rPr lang="en-US" sz="1400" b="1" dirty="0">
                <a:latin typeface="Times New Roman" panose="02020603050405020304" pitchFamily="18" charset="0"/>
                <a:cs typeface="Times New Roman" panose="02020603050405020304" pitchFamily="18" charset="0"/>
              </a:rPr>
              <a:t>Key Analysis Performed:</a:t>
            </a:r>
            <a:endParaRPr lang="en-US" sz="1400" dirty="0">
              <a:latin typeface="Times New Roman" panose="02020603050405020304" pitchFamily="18" charset="0"/>
              <a:cs typeface="Times New Roman" panose="02020603050405020304" pitchFamily="18" charset="0"/>
            </a:endParaRPr>
          </a:p>
          <a:p>
            <a:pPr>
              <a:lnSpc>
                <a:spcPct val="110000"/>
              </a:lnSpc>
              <a:buFont typeface="Wingdings" panose="05000000000000000000" pitchFamily="2" charset="2"/>
              <a:buChar char="q"/>
            </a:pPr>
            <a:r>
              <a:rPr lang="en-US" sz="1400" b="1" dirty="0">
                <a:latin typeface="Times New Roman" panose="02020603050405020304" pitchFamily="18" charset="0"/>
                <a:cs typeface="Times New Roman" panose="02020603050405020304" pitchFamily="18" charset="0"/>
              </a:rPr>
              <a:t>Student Distribution Analysis</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Visualizes the number of students across different departments and gender categories.</a:t>
            </a:r>
          </a:p>
          <a:p>
            <a:pPr>
              <a:lnSpc>
                <a:spcPct val="110000"/>
              </a:lnSpc>
              <a:buFont typeface="Wingdings" panose="05000000000000000000" pitchFamily="2" charset="2"/>
              <a:buChar char="q"/>
            </a:pPr>
            <a:r>
              <a:rPr lang="en-US" sz="1400" b="1" dirty="0">
                <a:latin typeface="Times New Roman" panose="02020603050405020304" pitchFamily="18" charset="0"/>
                <a:cs typeface="Times New Roman" panose="02020603050405020304" pitchFamily="18" charset="0"/>
              </a:rPr>
              <a:t>Academic Performance Analysis</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Examines academic score distribution and performance trends across semesters.</a:t>
            </a:r>
          </a:p>
          <a:p>
            <a:pPr>
              <a:lnSpc>
                <a:spcPct val="110000"/>
              </a:lnSpc>
              <a:buFont typeface="Wingdings" panose="05000000000000000000" pitchFamily="2" charset="2"/>
              <a:buChar char="q"/>
            </a:pPr>
            <a:r>
              <a:rPr lang="en-US" sz="1400" b="1" dirty="0">
                <a:latin typeface="Times New Roman" panose="02020603050405020304" pitchFamily="18" charset="0"/>
                <a:cs typeface="Times New Roman" panose="02020603050405020304" pitchFamily="18" charset="0"/>
              </a:rPr>
              <a:t>Attendance vs Performance Relationship</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Identifies how student attendance impacts academic performance.</a:t>
            </a:r>
          </a:p>
          <a:p>
            <a:pPr>
              <a:lnSpc>
                <a:spcPct val="110000"/>
              </a:lnSpc>
              <a:buFont typeface="Wingdings" panose="05000000000000000000" pitchFamily="2" charset="2"/>
              <a:buChar char="q"/>
            </a:pPr>
            <a:r>
              <a:rPr lang="en-US" sz="1400" b="1" dirty="0">
                <a:latin typeface="Times New Roman" panose="02020603050405020304" pitchFamily="18" charset="0"/>
                <a:cs typeface="Times New Roman" panose="02020603050405020304" pitchFamily="18" charset="0"/>
              </a:rPr>
              <a:t>Skill &amp; Engagement Analysis</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Evaluates skill levels and engagement patterns across departments.</a:t>
            </a:r>
          </a:p>
          <a:p>
            <a:pPr>
              <a:lnSpc>
                <a:spcPct val="110000"/>
              </a:lnSpc>
              <a:buFont typeface="Wingdings" panose="05000000000000000000" pitchFamily="2" charset="2"/>
              <a:buChar char="q"/>
            </a:pPr>
            <a:r>
              <a:rPr lang="en-US" sz="1400" b="1" dirty="0">
                <a:latin typeface="Times New Roman" panose="02020603050405020304" pitchFamily="18" charset="0"/>
                <a:cs typeface="Times New Roman" panose="02020603050405020304" pitchFamily="18" charset="0"/>
              </a:rPr>
              <a:t>Dropout Risk Analysis</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Detects students with higher dropout risk based on attendance and performance indicators.</a:t>
            </a:r>
          </a:p>
          <a:p>
            <a:pPr>
              <a:lnSpc>
                <a:spcPct val="110000"/>
              </a:lnSpc>
              <a:buFont typeface="Wingdings" panose="05000000000000000000" pitchFamily="2" charset="2"/>
              <a:buChar char="q"/>
            </a:pPr>
            <a:r>
              <a:rPr lang="en-US" sz="1400" b="1" dirty="0">
                <a:latin typeface="Times New Roman" panose="02020603050405020304" pitchFamily="18" charset="0"/>
                <a:cs typeface="Times New Roman" panose="02020603050405020304" pitchFamily="18" charset="0"/>
              </a:rPr>
              <a:t>Career Recommendation Insights</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Analyzes career path recommendations based on student skills and department trends.</a:t>
            </a:r>
          </a:p>
          <a:p>
            <a:pPr>
              <a:lnSpc>
                <a:spcPct val="110000"/>
              </a:lnSpc>
              <a:buFont typeface="Wingdings" panose="05000000000000000000" pitchFamily="2" charset="2"/>
              <a:buChar char="q"/>
            </a:pPr>
            <a:r>
              <a:rPr lang="en-US" sz="1400" b="1" dirty="0">
                <a:latin typeface="Times New Roman" panose="02020603050405020304" pitchFamily="18" charset="0"/>
                <a:cs typeface="Times New Roman" panose="02020603050405020304" pitchFamily="18" charset="0"/>
              </a:rPr>
              <a:t>Outcome:</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The dashboard provides interactive insights that help educators and institutions make </a:t>
            </a:r>
            <a:r>
              <a:rPr lang="en-US" sz="1400" b="1" dirty="0">
                <a:latin typeface="Times New Roman" panose="02020603050405020304" pitchFamily="18" charset="0"/>
                <a:cs typeface="Times New Roman" panose="02020603050405020304" pitchFamily="18" charset="0"/>
              </a:rPr>
              <a:t>data-driven decisions to improve student success and academic guidance</a:t>
            </a:r>
            <a:r>
              <a:rPr lang="en-US" sz="1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1990843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F756E-D4E1-5A9A-636A-7FA06EC394F3}"/>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a:cs typeface="Arial"/>
              </a:rPr>
              <a:t>Result:</a:t>
            </a:r>
            <a:endParaRPr lang="en-US" sz="4000" dirty="0"/>
          </a:p>
        </p:txBody>
      </p:sp>
      <p:sp>
        <p:nvSpPr>
          <p:cNvPr id="3" name="Content Placeholder 2">
            <a:extLst>
              <a:ext uri="{FF2B5EF4-FFF2-40B4-BE49-F238E27FC236}">
                <a16:creationId xmlns:a16="http://schemas.microsoft.com/office/drawing/2014/main" id="{66102C9B-C4AF-D0DB-DE74-862D9812001C}"/>
              </a:ext>
            </a:extLst>
          </p:cNvPr>
          <p:cNvSpPr>
            <a:spLocks noGrp="1"/>
          </p:cNvSpPr>
          <p:nvPr>
            <p:ph idx="1"/>
          </p:nvPr>
        </p:nvSpPr>
        <p:spPr>
          <a:xfrm>
            <a:off x="338137" y="1380564"/>
            <a:ext cx="10515600" cy="5280211"/>
          </a:xfrm>
        </p:spPr>
        <p:txBody>
          <a:bodyPr vert="horz" lIns="91440" tIns="45720" rIns="91440" bIns="45720" rtlCol="0">
            <a:normAutofit/>
          </a:bodyPr>
          <a:lstStyle/>
          <a:p>
            <a:pPr marL="0" indent="0">
              <a:lnSpc>
                <a:spcPct val="100000"/>
              </a:lnSpc>
              <a:buNone/>
            </a:pPr>
            <a:r>
              <a:rPr lang="en-US" sz="1800" dirty="0">
                <a:latin typeface="Times New Roman" panose="02020603050405020304" pitchFamily="18" charset="0"/>
                <a:cs typeface="Times New Roman" panose="02020603050405020304" pitchFamily="18" charset="0"/>
              </a:rPr>
              <a:t>The </a:t>
            </a:r>
            <a:r>
              <a:rPr lang="en-US" sz="1800" b="1" dirty="0">
                <a:latin typeface="Times New Roman" panose="02020603050405020304" pitchFamily="18" charset="0"/>
                <a:cs typeface="Times New Roman" panose="02020603050405020304" pitchFamily="18" charset="0"/>
              </a:rPr>
              <a:t>Lakshya – Student Success Analytics Dashboard</a:t>
            </a:r>
            <a:r>
              <a:rPr lang="en-US" sz="1800" dirty="0">
                <a:latin typeface="Times New Roman" panose="02020603050405020304" pitchFamily="18" charset="0"/>
                <a:cs typeface="Times New Roman" panose="02020603050405020304" pitchFamily="18" charset="0"/>
              </a:rPr>
              <a:t> successfully analyzes student data and presents meaningful insights through interactive visualizations using </a:t>
            </a:r>
            <a:r>
              <a:rPr lang="en-US" sz="1800" b="1" dirty="0">
                <a:latin typeface="Times New Roman" panose="02020603050405020304" pitchFamily="18" charset="0"/>
                <a:cs typeface="Times New Roman" panose="02020603050405020304" pitchFamily="18" charset="0"/>
              </a:rPr>
              <a:t>Microsoft Power BI</a:t>
            </a:r>
            <a:r>
              <a:rPr lang="en-US" sz="1800" dirty="0">
                <a:latin typeface="Times New Roman" panose="02020603050405020304" pitchFamily="18" charset="0"/>
                <a:cs typeface="Times New Roman" panose="02020603050405020304" pitchFamily="18" charset="0"/>
              </a:rPr>
              <a:t>.</a:t>
            </a:r>
          </a:p>
          <a:p>
            <a:pPr marL="0" indent="0">
              <a:lnSpc>
                <a:spcPct val="100000"/>
              </a:lnSpc>
              <a:buNone/>
            </a:pPr>
            <a:r>
              <a:rPr lang="en-US" sz="1800" dirty="0">
                <a:latin typeface="Times New Roman" panose="02020603050405020304" pitchFamily="18" charset="0"/>
                <a:cs typeface="Times New Roman" panose="02020603050405020304" pitchFamily="18" charset="0"/>
              </a:rPr>
              <a:t>The dashboard provides a comprehensive view of student performance, attendance patterns, skill levels, and dropout risk indicators.</a:t>
            </a:r>
          </a:p>
          <a:p>
            <a:pPr marL="0" indent="0">
              <a:lnSpc>
                <a:spcPct val="100000"/>
              </a:lnSpc>
              <a:buNone/>
            </a:pPr>
            <a:r>
              <a:rPr lang="en-US" sz="1800" b="1" dirty="0">
                <a:latin typeface="Times New Roman" panose="02020603050405020304" pitchFamily="18" charset="0"/>
                <a:cs typeface="Times New Roman" panose="02020603050405020304" pitchFamily="18" charset="0"/>
              </a:rPr>
              <a:t>Key Results:</a:t>
            </a:r>
            <a:endParaRPr lang="en-US" sz="1800" dirty="0">
              <a:latin typeface="Times New Roman" panose="02020603050405020304" pitchFamily="18" charset="0"/>
              <a:cs typeface="Times New Roman" panose="02020603050405020304" pitchFamily="18" charset="0"/>
            </a:endParaRPr>
          </a:p>
          <a:p>
            <a:pPr>
              <a:lnSpc>
                <a:spcPct val="10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 Total students analyzed: </a:t>
            </a:r>
            <a:r>
              <a:rPr lang="en-US" sz="1800" b="1" dirty="0">
                <a:latin typeface="Times New Roman" panose="02020603050405020304" pitchFamily="18" charset="0"/>
                <a:cs typeface="Times New Roman" panose="02020603050405020304" pitchFamily="18" charset="0"/>
              </a:rPr>
              <a:t>1000</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Average academic score: </a:t>
            </a:r>
            <a:r>
              <a:rPr lang="en-US" sz="1800" b="1" dirty="0">
                <a:latin typeface="Times New Roman" panose="02020603050405020304" pitchFamily="18" charset="0"/>
                <a:cs typeface="Times New Roman" panose="02020603050405020304" pitchFamily="18" charset="0"/>
              </a:rPr>
              <a:t>66.94</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Average attendance: </a:t>
            </a:r>
            <a:r>
              <a:rPr lang="en-US" sz="1800" b="1" dirty="0">
                <a:latin typeface="Times New Roman" panose="02020603050405020304" pitchFamily="18" charset="0"/>
                <a:cs typeface="Times New Roman" panose="02020603050405020304" pitchFamily="18" charset="0"/>
              </a:rPr>
              <a:t>71.43%</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High-risk students identified: </a:t>
            </a:r>
            <a:r>
              <a:rPr lang="en-US" sz="1800" b="1" dirty="0">
                <a:latin typeface="Times New Roman" panose="02020603050405020304" pitchFamily="18" charset="0"/>
                <a:cs typeface="Times New Roman" panose="02020603050405020304" pitchFamily="18" charset="0"/>
              </a:rPr>
              <a:t>464</a:t>
            </a:r>
            <a:endParaRPr lang="en-US" sz="1800" dirty="0">
              <a:latin typeface="Times New Roman" panose="02020603050405020304" pitchFamily="18" charset="0"/>
              <a:cs typeface="Times New Roman" panose="02020603050405020304" pitchFamily="18" charset="0"/>
            </a:endParaRPr>
          </a:p>
          <a:p>
            <a:pPr>
              <a:lnSpc>
                <a:spcPct val="10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The dashboard includes multiple analytical views such as:</a:t>
            </a:r>
          </a:p>
          <a:p>
            <a:pPr>
              <a:lnSpc>
                <a:spcPct val="10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Executive Overview</a:t>
            </a:r>
            <a:r>
              <a:rPr lang="en-US" sz="1800" dirty="0">
                <a:latin typeface="Times New Roman" panose="02020603050405020304" pitchFamily="18" charset="0"/>
                <a:cs typeface="Times New Roman" panose="02020603050405020304" pitchFamily="18" charset="0"/>
              </a:rPr>
              <a:t> – Displays overall student statistics and key performance indicators.</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Academic Performance &amp; Skills Analysis</a:t>
            </a:r>
            <a:r>
              <a:rPr lang="en-US" sz="1800" dirty="0">
                <a:latin typeface="Times New Roman" panose="02020603050405020304" pitchFamily="18" charset="0"/>
                <a:cs typeface="Times New Roman" panose="02020603050405020304" pitchFamily="18" charset="0"/>
              </a:rPr>
              <a:t> – Shows relationships between attendance, performance, and engagement levels.</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Dropout Risk &amp; Career Insights</a:t>
            </a:r>
            <a:r>
              <a:rPr lang="en-US" sz="1800" dirty="0">
                <a:latin typeface="Times New Roman" panose="02020603050405020304" pitchFamily="18" charset="0"/>
                <a:cs typeface="Times New Roman" panose="02020603050405020304" pitchFamily="18" charset="0"/>
              </a:rPr>
              <a:t> – Identifies at-risk students and highlights recommended career paths.</a:t>
            </a:r>
          </a:p>
          <a:p>
            <a:pPr>
              <a:lnSpc>
                <a:spcPct val="10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The interactive filters and visualizations allow users to explore the data dynamically and gain insights that support </a:t>
            </a:r>
            <a:r>
              <a:rPr lang="en-US" sz="1800" b="1" dirty="0">
                <a:latin typeface="Times New Roman" panose="02020603050405020304" pitchFamily="18" charset="0"/>
                <a:cs typeface="Times New Roman" panose="02020603050405020304" pitchFamily="18" charset="0"/>
              </a:rPr>
              <a:t>data-driven academic decision-making</a:t>
            </a:r>
            <a:r>
              <a:rPr lang="en-US" sz="1800" dirty="0">
                <a:latin typeface="Times New Roman" panose="02020603050405020304" pitchFamily="18" charset="0"/>
                <a:cs typeface="Times New Roman" panose="02020603050405020304" pitchFamily="18" charset="0"/>
              </a:rPr>
              <a:t>.</a:t>
            </a:r>
          </a:p>
          <a:p>
            <a:pPr marL="0" indent="0">
              <a:buNone/>
            </a:pPr>
            <a:endParaRPr lang="en-US" sz="2200" dirty="0"/>
          </a:p>
        </p:txBody>
      </p:sp>
    </p:spTree>
    <p:extLst>
      <p:ext uri="{BB962C8B-B14F-4D97-AF65-F5344CB8AC3E}">
        <p14:creationId xmlns:p14="http://schemas.microsoft.com/office/powerpoint/2010/main" val="587425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F756E-D4E1-5A9A-636A-7FA06EC394F3}"/>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a:cs typeface="Arial"/>
              </a:rPr>
              <a:t>Result:</a:t>
            </a:r>
            <a:endParaRPr lang="en-US" sz="4000" dirty="0"/>
          </a:p>
        </p:txBody>
      </p:sp>
      <p:pic>
        <p:nvPicPr>
          <p:cNvPr id="7" name="Picture 6">
            <a:extLst>
              <a:ext uri="{FF2B5EF4-FFF2-40B4-BE49-F238E27FC236}">
                <a16:creationId xmlns:a16="http://schemas.microsoft.com/office/drawing/2014/main" id="{5D00B511-0C72-4AF0-AF1B-7F6A839295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2329" y="1349785"/>
            <a:ext cx="9188824" cy="4706711"/>
          </a:xfrm>
          <a:prstGeom prst="rect">
            <a:avLst/>
          </a:prstGeom>
        </p:spPr>
      </p:pic>
      <p:sp>
        <p:nvSpPr>
          <p:cNvPr id="8" name="Content Placeholder 2">
            <a:extLst>
              <a:ext uri="{FF2B5EF4-FFF2-40B4-BE49-F238E27FC236}">
                <a16:creationId xmlns:a16="http://schemas.microsoft.com/office/drawing/2014/main" id="{C53CEAB0-57CD-464F-9B23-1FC816207D1A}"/>
              </a:ext>
            </a:extLst>
          </p:cNvPr>
          <p:cNvSpPr>
            <a:spLocks noGrp="1"/>
          </p:cNvSpPr>
          <p:nvPr>
            <p:ph idx="1"/>
          </p:nvPr>
        </p:nvSpPr>
        <p:spPr>
          <a:xfrm>
            <a:off x="4210235" y="6055590"/>
            <a:ext cx="3771529" cy="363872"/>
          </a:xfrm>
        </p:spPr>
        <p:txBody>
          <a:bodyPr vert="horz" lIns="91440" tIns="45720" rIns="91440" bIns="45720" rtlCol="0">
            <a:normAutofit fontScale="92500" lnSpcReduction="10000"/>
          </a:bodyPr>
          <a:lstStyle/>
          <a:p>
            <a:pPr marL="0" indent="0">
              <a:buNone/>
            </a:pPr>
            <a:r>
              <a:rPr lang="en-US" sz="2200" dirty="0"/>
              <a:t>Fig 1(a) : Page 1</a:t>
            </a:r>
          </a:p>
        </p:txBody>
      </p:sp>
    </p:spTree>
    <p:extLst>
      <p:ext uri="{BB962C8B-B14F-4D97-AF65-F5344CB8AC3E}">
        <p14:creationId xmlns:p14="http://schemas.microsoft.com/office/powerpoint/2010/main" val="15121508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F756E-D4E1-5A9A-636A-7FA06EC394F3}"/>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a:cs typeface="Arial"/>
              </a:rPr>
              <a:t>Result:</a:t>
            </a:r>
            <a:endParaRPr lang="en-US" sz="4000" dirty="0"/>
          </a:p>
        </p:txBody>
      </p:sp>
      <p:sp>
        <p:nvSpPr>
          <p:cNvPr id="8" name="Content Placeholder 2">
            <a:extLst>
              <a:ext uri="{FF2B5EF4-FFF2-40B4-BE49-F238E27FC236}">
                <a16:creationId xmlns:a16="http://schemas.microsoft.com/office/drawing/2014/main" id="{C53CEAB0-57CD-464F-9B23-1FC816207D1A}"/>
              </a:ext>
            </a:extLst>
          </p:cNvPr>
          <p:cNvSpPr>
            <a:spLocks noGrp="1"/>
          </p:cNvSpPr>
          <p:nvPr>
            <p:ph idx="1"/>
          </p:nvPr>
        </p:nvSpPr>
        <p:spPr>
          <a:xfrm>
            <a:off x="4210235" y="6055590"/>
            <a:ext cx="3771529" cy="363872"/>
          </a:xfrm>
        </p:spPr>
        <p:txBody>
          <a:bodyPr vert="horz" lIns="91440" tIns="45720" rIns="91440" bIns="45720" rtlCol="0">
            <a:normAutofit fontScale="92500" lnSpcReduction="10000"/>
          </a:bodyPr>
          <a:lstStyle/>
          <a:p>
            <a:pPr marL="0" indent="0">
              <a:buNone/>
            </a:pPr>
            <a:r>
              <a:rPr lang="en-US" sz="2200" dirty="0"/>
              <a:t>Fig 1(b) : Page 2</a:t>
            </a:r>
          </a:p>
        </p:txBody>
      </p:sp>
      <p:pic>
        <p:nvPicPr>
          <p:cNvPr id="4" name="Picture 3">
            <a:extLst>
              <a:ext uri="{FF2B5EF4-FFF2-40B4-BE49-F238E27FC236}">
                <a16:creationId xmlns:a16="http://schemas.microsoft.com/office/drawing/2014/main" id="{59F6C76A-514D-4D87-82F7-588A93522B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400" y="1230457"/>
            <a:ext cx="9600009" cy="4825133"/>
          </a:xfrm>
          <a:prstGeom prst="rect">
            <a:avLst/>
          </a:prstGeom>
        </p:spPr>
      </p:pic>
    </p:spTree>
    <p:extLst>
      <p:ext uri="{BB962C8B-B14F-4D97-AF65-F5344CB8AC3E}">
        <p14:creationId xmlns:p14="http://schemas.microsoft.com/office/powerpoint/2010/main" val="29942383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F756E-D4E1-5A9A-636A-7FA06EC394F3}"/>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a:cs typeface="Arial"/>
              </a:rPr>
              <a:t>Result:</a:t>
            </a:r>
            <a:endParaRPr lang="en-US" sz="4000" dirty="0"/>
          </a:p>
        </p:txBody>
      </p:sp>
      <p:sp>
        <p:nvSpPr>
          <p:cNvPr id="8" name="Content Placeholder 2">
            <a:extLst>
              <a:ext uri="{FF2B5EF4-FFF2-40B4-BE49-F238E27FC236}">
                <a16:creationId xmlns:a16="http://schemas.microsoft.com/office/drawing/2014/main" id="{C53CEAB0-57CD-464F-9B23-1FC816207D1A}"/>
              </a:ext>
            </a:extLst>
          </p:cNvPr>
          <p:cNvSpPr>
            <a:spLocks noGrp="1"/>
          </p:cNvSpPr>
          <p:nvPr>
            <p:ph idx="1"/>
          </p:nvPr>
        </p:nvSpPr>
        <p:spPr>
          <a:xfrm>
            <a:off x="4210235" y="6055590"/>
            <a:ext cx="3771529" cy="363872"/>
          </a:xfrm>
        </p:spPr>
        <p:txBody>
          <a:bodyPr vert="horz" lIns="91440" tIns="45720" rIns="91440" bIns="45720" rtlCol="0">
            <a:normAutofit fontScale="92500" lnSpcReduction="10000"/>
          </a:bodyPr>
          <a:lstStyle/>
          <a:p>
            <a:pPr marL="0" indent="0">
              <a:buNone/>
            </a:pPr>
            <a:r>
              <a:rPr lang="en-US" sz="2200" dirty="0"/>
              <a:t>Fig 1(c) : Page 3</a:t>
            </a:r>
          </a:p>
        </p:txBody>
      </p:sp>
      <p:pic>
        <p:nvPicPr>
          <p:cNvPr id="5" name="Picture 4">
            <a:extLst>
              <a:ext uri="{FF2B5EF4-FFF2-40B4-BE49-F238E27FC236}">
                <a16:creationId xmlns:a16="http://schemas.microsoft.com/office/drawing/2014/main" id="{A1A63DB2-6CC1-408D-8142-2C88002A20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1295" y="1169641"/>
            <a:ext cx="9234300" cy="4791889"/>
          </a:xfrm>
          <a:prstGeom prst="rect">
            <a:avLst/>
          </a:prstGeom>
        </p:spPr>
      </p:pic>
    </p:spTree>
    <p:extLst>
      <p:ext uri="{BB962C8B-B14F-4D97-AF65-F5344CB8AC3E}">
        <p14:creationId xmlns:p14="http://schemas.microsoft.com/office/powerpoint/2010/main" val="18775468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396BB-D4E8-514D-53F4-27AADA666CBB}"/>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Conclusion:</a:t>
            </a:r>
            <a:endParaRPr lang="en-US" sz="4000" dirty="0"/>
          </a:p>
        </p:txBody>
      </p:sp>
      <p:sp>
        <p:nvSpPr>
          <p:cNvPr id="3" name="Content Placeholder 2">
            <a:extLst>
              <a:ext uri="{FF2B5EF4-FFF2-40B4-BE49-F238E27FC236}">
                <a16:creationId xmlns:a16="http://schemas.microsoft.com/office/drawing/2014/main" id="{21789DDB-698E-B624-5621-F9D79482FFED}"/>
              </a:ext>
            </a:extLst>
          </p:cNvPr>
          <p:cNvSpPr>
            <a:spLocks noGrp="1"/>
          </p:cNvSpPr>
          <p:nvPr>
            <p:ph idx="1"/>
          </p:nvPr>
        </p:nvSpPr>
        <p:spPr>
          <a:xfrm>
            <a:off x="262589" y="1622391"/>
            <a:ext cx="10515600" cy="4251960"/>
          </a:xfrm>
        </p:spPr>
        <p:txBody>
          <a:bodyPr vert="horz" lIns="91440" tIns="45720" rIns="91440" bIns="45720" rtlCol="0">
            <a:normAutofit/>
          </a:bodyPr>
          <a:lstStyle/>
          <a:p>
            <a:pPr marL="0" indent="0" algn="just">
              <a:lnSpc>
                <a:spcPct val="150000"/>
              </a:lnSpc>
              <a:buNone/>
            </a:pPr>
            <a:r>
              <a:rPr lang="en-US" sz="1800" dirty="0">
                <a:latin typeface="Times New Roman" panose="02020603050405020304" pitchFamily="18" charset="0"/>
                <a:cs typeface="Times New Roman" panose="02020603050405020304" pitchFamily="18" charset="0"/>
              </a:rPr>
              <a:t>The </a:t>
            </a:r>
            <a:r>
              <a:rPr lang="en-US" sz="1800" b="1" dirty="0">
                <a:latin typeface="Times New Roman" panose="02020603050405020304" pitchFamily="18" charset="0"/>
                <a:cs typeface="Times New Roman" panose="02020603050405020304" pitchFamily="18" charset="0"/>
              </a:rPr>
              <a:t>Lakshya – Student Success Analytics Dashboard</a:t>
            </a:r>
            <a:r>
              <a:rPr lang="en-US" sz="1800" dirty="0">
                <a:latin typeface="Times New Roman" panose="02020603050405020304" pitchFamily="18" charset="0"/>
                <a:cs typeface="Times New Roman" panose="02020603050405020304" pitchFamily="18" charset="0"/>
              </a:rPr>
              <a:t> demonstrates how data analytics and visualization can transform raw student data into meaningful insights. By analyzing factors such as academic performance, attendance, skills, and engagement levels, the dashboard helps identify patterns that influence student success.</a:t>
            </a:r>
          </a:p>
          <a:p>
            <a:pPr marL="0" indent="0" algn="just">
              <a:lnSpc>
                <a:spcPct val="150000"/>
              </a:lnSpc>
              <a:buNone/>
            </a:pPr>
            <a:r>
              <a:rPr lang="en-US" sz="1800" dirty="0">
                <a:latin typeface="Times New Roman" panose="02020603050405020304" pitchFamily="18" charset="0"/>
                <a:cs typeface="Times New Roman" panose="02020603050405020304" pitchFamily="18" charset="0"/>
              </a:rPr>
              <a:t>The interactive Power BI dashboard enables institutions to monitor student performance, detect potential dropout risks, and understand career recommendation trends. Through clear visualizations and dynamic filters, educators and administrators can easily explore the data and gain valuable insights.</a:t>
            </a:r>
          </a:p>
          <a:p>
            <a:pPr marL="0" indent="0" algn="just">
              <a:lnSpc>
                <a:spcPct val="150000"/>
              </a:lnSpc>
              <a:buNone/>
            </a:pPr>
            <a:r>
              <a:rPr lang="en-US" sz="1800" dirty="0">
                <a:latin typeface="Times New Roman" panose="02020603050405020304" pitchFamily="18" charset="0"/>
                <a:cs typeface="Times New Roman" panose="02020603050405020304" pitchFamily="18" charset="0"/>
              </a:rPr>
              <a:t>Overall, the system supports </a:t>
            </a:r>
            <a:r>
              <a:rPr lang="en-US" sz="1800" b="1" dirty="0">
                <a:latin typeface="Times New Roman" panose="02020603050405020304" pitchFamily="18" charset="0"/>
                <a:cs typeface="Times New Roman" panose="02020603050405020304" pitchFamily="18" charset="0"/>
              </a:rPr>
              <a:t>data-driven decision-making</a:t>
            </a:r>
            <a:r>
              <a:rPr lang="en-US" sz="1800" dirty="0">
                <a:latin typeface="Times New Roman" panose="02020603050405020304" pitchFamily="18" charset="0"/>
                <a:cs typeface="Times New Roman" panose="02020603050405020304" pitchFamily="18" charset="0"/>
              </a:rPr>
              <a:t>, helping educational institutions improve academic guidance, enhance student engagement, and promote better student outcomes.</a:t>
            </a:r>
          </a:p>
        </p:txBody>
      </p:sp>
    </p:spTree>
    <p:extLst>
      <p:ext uri="{BB962C8B-B14F-4D97-AF65-F5344CB8AC3E}">
        <p14:creationId xmlns:p14="http://schemas.microsoft.com/office/powerpoint/2010/main" val="22453096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403C0-6D6C-CF0D-D01B-94F3DED1DC7F}"/>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Future scope:</a:t>
            </a:r>
            <a:endParaRPr lang="en-US" sz="4000" dirty="0"/>
          </a:p>
        </p:txBody>
      </p:sp>
      <p:sp>
        <p:nvSpPr>
          <p:cNvPr id="3" name="Content Placeholder 2">
            <a:extLst>
              <a:ext uri="{FF2B5EF4-FFF2-40B4-BE49-F238E27FC236}">
                <a16:creationId xmlns:a16="http://schemas.microsoft.com/office/drawing/2014/main" id="{3F2C79AB-5BF9-3911-CAE8-5E44B0DF2236}"/>
              </a:ext>
            </a:extLst>
          </p:cNvPr>
          <p:cNvSpPr>
            <a:spLocks noGrp="1"/>
          </p:cNvSpPr>
          <p:nvPr>
            <p:ph idx="1"/>
          </p:nvPr>
        </p:nvSpPr>
        <p:spPr>
          <a:xfrm>
            <a:off x="268071" y="1304434"/>
            <a:ext cx="10515600" cy="5329448"/>
          </a:xfrm>
        </p:spPr>
        <p:txBody>
          <a:bodyPr vert="horz" lIns="91440" tIns="45720" rIns="91440" bIns="45720" rtlCol="0">
            <a:normAutofit/>
          </a:bodyPr>
          <a:lstStyle/>
          <a:p>
            <a:pPr marL="0" indent="0">
              <a:lnSpc>
                <a:spcPct val="100000"/>
              </a:lnSpc>
              <a:buNone/>
            </a:pPr>
            <a:r>
              <a:rPr lang="en-US" sz="2000" dirty="0">
                <a:latin typeface="Times New Roman" panose="02020603050405020304" pitchFamily="18" charset="0"/>
                <a:cs typeface="Times New Roman" panose="02020603050405020304" pitchFamily="18" charset="0"/>
              </a:rPr>
              <a:t>The Lakshya dashboard can be further enhanced by incorporating additional data sources and advanced analytics techniques to improve the accuracy and depth of insights.</a:t>
            </a:r>
          </a:p>
          <a:p>
            <a:pPr marL="0" indent="0">
              <a:lnSpc>
                <a:spcPct val="100000"/>
              </a:lnSpc>
              <a:buNone/>
            </a:pPr>
            <a:r>
              <a:rPr lang="en-US" sz="2000" dirty="0">
                <a:latin typeface="Times New Roman" panose="02020603050405020304" pitchFamily="18" charset="0"/>
                <a:cs typeface="Times New Roman" panose="02020603050405020304" pitchFamily="18" charset="0"/>
              </a:rPr>
              <a:t>Possible future improvements include:</a:t>
            </a:r>
          </a:p>
          <a:p>
            <a:pPr>
              <a:lnSpc>
                <a:spcPct val="10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Integrate </a:t>
            </a:r>
            <a:r>
              <a:rPr lang="en-US" sz="2000" b="1" dirty="0">
                <a:latin typeface="Times New Roman" panose="02020603050405020304" pitchFamily="18" charset="0"/>
                <a:cs typeface="Times New Roman" panose="02020603050405020304" pitchFamily="18" charset="0"/>
              </a:rPr>
              <a:t>real-time student data</a:t>
            </a:r>
            <a:r>
              <a:rPr lang="en-US" sz="2000" dirty="0">
                <a:latin typeface="Times New Roman" panose="02020603050405020304" pitchFamily="18" charset="0"/>
                <a:cs typeface="Times New Roman" panose="02020603050405020304" pitchFamily="18" charset="0"/>
              </a:rPr>
              <a:t> for continuous performance monitoring.</a:t>
            </a:r>
          </a:p>
          <a:p>
            <a:pPr>
              <a:lnSpc>
                <a:spcPct val="10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Apply </a:t>
            </a:r>
            <a:r>
              <a:rPr lang="en-US" sz="2000" b="1" dirty="0">
                <a:latin typeface="Times New Roman" panose="02020603050405020304" pitchFamily="18" charset="0"/>
                <a:cs typeface="Times New Roman" panose="02020603050405020304" pitchFamily="18" charset="0"/>
              </a:rPr>
              <a:t>machine learning models</a:t>
            </a:r>
            <a:r>
              <a:rPr lang="en-US" sz="2000" dirty="0">
                <a:latin typeface="Times New Roman" panose="02020603050405020304" pitchFamily="18" charset="0"/>
                <a:cs typeface="Times New Roman" panose="02020603050405020304" pitchFamily="18" charset="0"/>
              </a:rPr>
              <a:t> to predict student success and dropout risk.</a:t>
            </a:r>
          </a:p>
          <a:p>
            <a:pPr>
              <a:lnSpc>
                <a:spcPct val="10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Provide </a:t>
            </a:r>
            <a:r>
              <a:rPr lang="en-US" sz="2000" b="1" dirty="0">
                <a:latin typeface="Times New Roman" panose="02020603050405020304" pitchFamily="18" charset="0"/>
                <a:cs typeface="Times New Roman" panose="02020603050405020304" pitchFamily="18" charset="0"/>
              </a:rPr>
              <a:t>personalized career and course recommendations</a:t>
            </a:r>
            <a:r>
              <a:rPr lang="en-US" sz="2000" dirty="0">
                <a:latin typeface="Times New Roman" panose="02020603050405020304" pitchFamily="18" charset="0"/>
                <a:cs typeface="Times New Roman" panose="02020603050405020304" pitchFamily="18" charset="0"/>
              </a:rPr>
              <a:t> based on student skills.</a:t>
            </a:r>
          </a:p>
          <a:p>
            <a:pPr>
              <a:lnSpc>
                <a:spcPct val="10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Develop a </a:t>
            </a:r>
            <a:r>
              <a:rPr lang="en-US" sz="2000" b="1" dirty="0">
                <a:latin typeface="Times New Roman" panose="02020603050405020304" pitchFamily="18" charset="0"/>
                <a:cs typeface="Times New Roman" panose="02020603050405020304" pitchFamily="18" charset="0"/>
              </a:rPr>
              <a:t>web or cloud-based dashboard</a:t>
            </a:r>
            <a:r>
              <a:rPr lang="en-US" sz="2000" dirty="0">
                <a:latin typeface="Times New Roman" panose="02020603050405020304" pitchFamily="18" charset="0"/>
                <a:cs typeface="Times New Roman" panose="02020603050405020304" pitchFamily="18" charset="0"/>
              </a:rPr>
              <a:t> for easier access across institutions.</a:t>
            </a:r>
          </a:p>
          <a:p>
            <a:pPr>
              <a:lnSpc>
                <a:spcPct val="10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Include additional factors like </a:t>
            </a:r>
            <a:r>
              <a:rPr lang="en-US" sz="2000" b="1" dirty="0">
                <a:latin typeface="Times New Roman" panose="02020603050405020304" pitchFamily="18" charset="0"/>
                <a:cs typeface="Times New Roman" panose="02020603050405020304" pitchFamily="18" charset="0"/>
              </a:rPr>
              <a:t>student activities, feedback, and engagement data</a:t>
            </a:r>
            <a:r>
              <a:rPr lang="en-US" sz="2000" dirty="0">
                <a:latin typeface="Times New Roman" panose="02020603050405020304" pitchFamily="18" charset="0"/>
                <a:cs typeface="Times New Roman" panose="02020603050405020304" pitchFamily="18" charset="0"/>
              </a:rPr>
              <a:t> for deeper insights.</a:t>
            </a:r>
          </a:p>
          <a:p>
            <a:pPr marL="0" indent="0">
              <a:lnSpc>
                <a:spcPct val="100000"/>
              </a:lnSpc>
              <a:buNone/>
            </a:pPr>
            <a:r>
              <a:rPr lang="en-US" sz="2000" dirty="0">
                <a:latin typeface="Times New Roman" panose="02020603050405020304" pitchFamily="18" charset="0"/>
                <a:cs typeface="Times New Roman" panose="02020603050405020304" pitchFamily="18" charset="0"/>
              </a:rPr>
              <a:t>These enhancements can make the system more intelligent and support </a:t>
            </a:r>
            <a:r>
              <a:rPr lang="en-US" sz="2000" b="1" dirty="0">
                <a:latin typeface="Times New Roman" panose="02020603050405020304" pitchFamily="18" charset="0"/>
                <a:cs typeface="Times New Roman" panose="02020603050405020304" pitchFamily="18" charset="0"/>
              </a:rPr>
              <a:t>better decision-making in educational institutions</a:t>
            </a:r>
            <a:r>
              <a:rPr lang="en-US" sz="2000" dirty="0">
                <a:latin typeface="Times New Roman" panose="02020603050405020304" pitchFamily="18" charset="0"/>
                <a:cs typeface="Times New Roman" panose="02020603050405020304" pitchFamily="18" charset="0"/>
              </a:rPr>
              <a:t>.</a:t>
            </a:r>
          </a:p>
          <a:p>
            <a:pPr marL="0" indent="0">
              <a:lnSpc>
                <a:spcPct val="100000"/>
              </a:lnSpc>
              <a:buNone/>
            </a:pPr>
            <a:endParaRPr lang="en-GB"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441996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D7BEC-26CE-96DB-DC10-B2897FA510E0}"/>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dirty="0">
                <a:latin typeface="Arial"/>
                <a:cs typeface="Arial"/>
              </a:rPr>
              <a:t>References:</a:t>
            </a:r>
            <a:endParaRPr lang="en-US" sz="4000" dirty="0"/>
          </a:p>
        </p:txBody>
      </p:sp>
      <p:sp>
        <p:nvSpPr>
          <p:cNvPr id="3" name="Content Placeholder 2">
            <a:extLst>
              <a:ext uri="{FF2B5EF4-FFF2-40B4-BE49-F238E27FC236}">
                <a16:creationId xmlns:a16="http://schemas.microsoft.com/office/drawing/2014/main" id="{5E6198D1-2392-A218-1A4C-10F40FCB8253}"/>
              </a:ext>
            </a:extLst>
          </p:cNvPr>
          <p:cNvSpPr>
            <a:spLocks noGrp="1"/>
          </p:cNvSpPr>
          <p:nvPr>
            <p:ph idx="1"/>
          </p:nvPr>
        </p:nvSpPr>
        <p:spPr>
          <a:xfrm>
            <a:off x="196803" y="1551124"/>
            <a:ext cx="11735221" cy="4446263"/>
          </a:xfrm>
        </p:spPr>
        <p:txBody>
          <a:bodyPr vert="horz" lIns="91440" tIns="45720" rIns="91440" bIns="45720" rtlCol="0" anchor="t">
            <a:normAutofit/>
          </a:bodyPr>
          <a:lstStyle/>
          <a:p>
            <a:pPr marL="0" indent="0">
              <a:buNone/>
            </a:pPr>
            <a:r>
              <a:rPr lang="en-IN" sz="2000" dirty="0"/>
              <a:t>[1]  Microsoft Power BI Documentation – </a:t>
            </a:r>
            <a:r>
              <a:rPr lang="en-IN" sz="2000" dirty="0">
                <a:hlinkClick r:id="rId2"/>
              </a:rPr>
              <a:t>https://learn.microsoft.com/power-bi/</a:t>
            </a:r>
            <a:endParaRPr lang="en-IN" sz="2000" dirty="0"/>
          </a:p>
          <a:p>
            <a:pPr marL="0" indent="0">
              <a:buNone/>
            </a:pPr>
            <a:r>
              <a:rPr lang="en-IN" sz="2000" dirty="0"/>
              <a:t>[2]  Power BI Data Visualization Guide – Microsoft Learn</a:t>
            </a:r>
          </a:p>
          <a:p>
            <a:pPr marL="0" indent="0">
              <a:buNone/>
            </a:pPr>
            <a:r>
              <a:rPr lang="en-IN" sz="2000" dirty="0"/>
              <a:t>[3]  Educational Data Mining and Learning Analytics Research Articles</a:t>
            </a:r>
          </a:p>
          <a:p>
            <a:pPr marL="0" indent="0">
              <a:buNone/>
            </a:pPr>
            <a:r>
              <a:rPr lang="en-IN" sz="2000" dirty="0"/>
              <a:t>[4]  Data Analytics and Visualization Best Practices</a:t>
            </a:r>
          </a:p>
          <a:p>
            <a:pPr marL="0" indent="0">
              <a:buNone/>
            </a:pPr>
            <a:r>
              <a:rPr lang="en-IN" sz="2000" dirty="0"/>
              <a:t>[5]  Dataset created for academic analysis and visualization purposes</a:t>
            </a:r>
          </a:p>
          <a:p>
            <a:pPr marL="0" indent="0">
              <a:buNone/>
            </a:pPr>
            <a:endParaRPr lang="en-IN" sz="2000" dirty="0"/>
          </a:p>
          <a:p>
            <a:pPr marL="0" indent="0">
              <a:buNone/>
            </a:pPr>
            <a:r>
              <a:rPr lang="en-IN" sz="2200" dirty="0">
                <a:latin typeface="Franklin Gothic Book"/>
              </a:rPr>
              <a:t>GitHub Link:</a:t>
            </a:r>
            <a:r>
              <a:rPr lang="en-IN" sz="2200" dirty="0">
                <a:solidFill>
                  <a:srgbClr val="0070C0"/>
                </a:solidFill>
                <a:latin typeface="Franklin Gothic Book"/>
              </a:rPr>
              <a:t> </a:t>
            </a:r>
            <a:r>
              <a:rPr lang="en-IN" sz="2200" dirty="0">
                <a:solidFill>
                  <a:srgbClr val="0070C0"/>
                </a:solidFill>
                <a:latin typeface="Franklin Gothic Book"/>
                <a:hlinkClick r:id="rId3"/>
              </a:rPr>
              <a:t>https://github.com/DulamVignesh/Lakshya-Student-Success-Analytics.git</a:t>
            </a:r>
            <a:endParaRPr lang="en-IN" sz="2200" dirty="0">
              <a:solidFill>
                <a:srgbClr val="0070C0"/>
              </a:solidFill>
              <a:latin typeface="Franklin Gothic Book"/>
            </a:endParaRPr>
          </a:p>
          <a:p>
            <a:pPr marL="0" indent="0">
              <a:buNone/>
            </a:pPr>
            <a:endParaRPr lang="en-IN" sz="2200" dirty="0">
              <a:solidFill>
                <a:srgbClr val="0070C0"/>
              </a:solidFill>
              <a:latin typeface="Franklin Gothic Book"/>
            </a:endParaRPr>
          </a:p>
          <a:p>
            <a:pPr marL="0" indent="0">
              <a:buNone/>
            </a:pPr>
            <a:r>
              <a:rPr lang="en-IN" sz="2200" dirty="0">
                <a:latin typeface="Franklin Gothic Book"/>
              </a:rPr>
              <a:t>Google Drive Link</a:t>
            </a:r>
            <a:r>
              <a:rPr lang="en-IN" sz="2200" dirty="0">
                <a:solidFill>
                  <a:srgbClr val="0070C0"/>
                </a:solidFill>
                <a:latin typeface="Franklin Gothic Book"/>
              </a:rPr>
              <a:t>:</a:t>
            </a:r>
          </a:p>
          <a:p>
            <a:pPr marL="0" indent="0">
              <a:buNone/>
            </a:pPr>
            <a:r>
              <a:rPr lang="en-IN" sz="2200" dirty="0">
                <a:solidFill>
                  <a:srgbClr val="0070C0"/>
                </a:solidFill>
                <a:latin typeface="Franklin Gothic Book"/>
                <a:hlinkClick r:id="rId4"/>
              </a:rPr>
              <a:t>https://drive.google.com/drive/folders/1u1i5TWH_he9Ny1CLAy5biMvtrTjWbc2?usp=sharing</a:t>
            </a:r>
            <a:endParaRPr lang="en-IN" sz="2200" dirty="0">
              <a:solidFill>
                <a:srgbClr val="0070C0"/>
              </a:solidFill>
              <a:latin typeface="Franklin Gothic Book"/>
            </a:endParaRPr>
          </a:p>
          <a:p>
            <a:pPr marL="0" indent="0">
              <a:buNone/>
            </a:pPr>
            <a:endParaRPr lang="en-IN" sz="2200" u="sng" dirty="0">
              <a:solidFill>
                <a:srgbClr val="0070C0"/>
              </a:solidFill>
              <a:latin typeface="Franklin Gothic Book"/>
            </a:endParaRPr>
          </a:p>
          <a:p>
            <a:pPr marL="0" indent="0">
              <a:buNone/>
            </a:pPr>
            <a:endParaRPr lang="en-IN" sz="2200" u="sng" dirty="0">
              <a:solidFill>
                <a:srgbClr val="0070C0"/>
              </a:solidFill>
              <a:latin typeface="Franklin Gothic Book"/>
            </a:endParaRPr>
          </a:p>
          <a:p>
            <a:pPr marL="0" indent="0">
              <a:buNone/>
            </a:pPr>
            <a:endParaRPr lang="en-IN" sz="2200" u="sng" dirty="0">
              <a:solidFill>
                <a:srgbClr val="0070C0"/>
              </a:solidFill>
              <a:latin typeface="Franklin Gothic Book"/>
            </a:endParaRPr>
          </a:p>
          <a:p>
            <a:pPr marL="0" indent="0">
              <a:buNone/>
            </a:pPr>
            <a:endParaRPr lang="en-IN" sz="2200" u="sng" dirty="0">
              <a:solidFill>
                <a:srgbClr val="0070C0"/>
              </a:solidFill>
              <a:latin typeface="Franklin Gothic Book"/>
            </a:endParaRPr>
          </a:p>
          <a:p>
            <a:pPr marL="457200" indent="-457200">
              <a:buFont typeface="+mj-lt"/>
              <a:buAutoNum type="arabicPeriod"/>
            </a:pPr>
            <a:endParaRPr lang="en-IN" sz="2200" dirty="0">
              <a:latin typeface="Franklin Gothic Book"/>
            </a:endParaRPr>
          </a:p>
        </p:txBody>
      </p:sp>
    </p:spTree>
    <p:extLst>
      <p:ext uri="{BB962C8B-B14F-4D97-AF65-F5344CB8AC3E}">
        <p14:creationId xmlns:p14="http://schemas.microsoft.com/office/powerpoint/2010/main" val="16917006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143E5-DB51-E32C-9252-0ED5EF288497}"/>
            </a:ext>
          </a:extLst>
        </p:cNvPr>
        <p:cNvGrpSpPr/>
        <p:nvPr/>
      </p:nvGrpSpPr>
      <p:grpSpPr>
        <a:xfrm>
          <a:off x="0" y="0"/>
          <a:ext cx="0" cy="0"/>
          <a:chOff x="0" y="0"/>
          <a:chExt cx="0" cy="0"/>
        </a:xfrm>
      </p:grpSpPr>
      <p:sp>
        <p:nvSpPr>
          <p:cNvPr id="7" name="Text Placeholder 4">
            <a:extLst>
              <a:ext uri="{FF2B5EF4-FFF2-40B4-BE49-F238E27FC236}">
                <a16:creationId xmlns:a16="http://schemas.microsoft.com/office/drawing/2014/main" id="{DE97B5AD-3B10-086C-32EF-8A2EAD5287C2}"/>
              </a:ext>
            </a:extLst>
          </p:cNvPr>
          <p:cNvSpPr txBox="1">
            <a:spLocks/>
          </p:cNvSpPr>
          <p:nvPr/>
        </p:nvSpPr>
        <p:spPr>
          <a:xfrm>
            <a:off x="314324" y="6312352"/>
            <a:ext cx="3724275" cy="295275"/>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173736" indent="-173736">
              <a:buFont typeface="Arial" pitchFamily="34" charset="0"/>
              <a:buNone/>
            </a:pPr>
            <a:endParaRPr lang="en-US" sz="1400">
              <a:latin typeface="Arial" panose="020B0604020202020204" pitchFamily="34" charset="0"/>
              <a:cs typeface="Arial" panose="020B0604020202020204" pitchFamily="34" charset="0"/>
            </a:endParaRPr>
          </a:p>
        </p:txBody>
      </p:sp>
      <p:sp>
        <p:nvSpPr>
          <p:cNvPr id="2" name="Title 3">
            <a:extLst>
              <a:ext uri="{FF2B5EF4-FFF2-40B4-BE49-F238E27FC236}">
                <a16:creationId xmlns:a16="http://schemas.microsoft.com/office/drawing/2014/main" id="{AFC7433E-E155-E68D-4C00-FCB38967C6F9}"/>
              </a:ext>
            </a:extLst>
          </p:cNvPr>
          <p:cNvSpPr txBox="1">
            <a:spLocks/>
          </p:cNvSpPr>
          <p:nvPr/>
        </p:nvSpPr>
        <p:spPr>
          <a:xfrm>
            <a:off x="3247621" y="3009471"/>
            <a:ext cx="5696757" cy="839057"/>
          </a:xfrm>
          <a:prstGeom prst="rect">
            <a:avLst/>
          </a:prstGeom>
        </p:spPr>
        <p:txBody>
          <a:bodyPr lIns="91440" tIns="45720" rIns="91440" bIns="45720" anchor="t"/>
          <a:lstStyle>
            <a:lvl1pPr algn="ctr" defTabSz="609630" rtl="0" eaLnBrk="1" latinLnBrk="0" hangingPunct="1">
              <a:spcBef>
                <a:spcPct val="0"/>
              </a:spcBef>
              <a:buNone/>
              <a:defRPr sz="2933" kern="1200">
                <a:solidFill>
                  <a:schemeClr val="tx1"/>
                </a:solidFill>
                <a:latin typeface="+mj-lt"/>
                <a:ea typeface="+mj-ea"/>
                <a:cs typeface="+mj-cs"/>
              </a:defRPr>
            </a:lvl1pPr>
          </a:lstStyle>
          <a:p>
            <a:r>
              <a:rPr lang="en-US" sz="4800" b="1">
                <a:solidFill>
                  <a:srgbClr val="002060"/>
                </a:solidFill>
                <a:latin typeface="Arial"/>
                <a:cs typeface="Arial"/>
              </a:rPr>
              <a:t>Thank You</a:t>
            </a:r>
          </a:p>
        </p:txBody>
      </p:sp>
    </p:spTree>
    <p:custDataLst>
      <p:tags r:id="rId1"/>
    </p:custDataLst>
    <p:extLst>
      <p:ext uri="{BB962C8B-B14F-4D97-AF65-F5344CB8AC3E}">
        <p14:creationId xmlns:p14="http://schemas.microsoft.com/office/powerpoint/2010/main" val="25446020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OFFICE THEME" val="TmdBxN3j"/>
  <p:tag name="ARTICULATE_PROJECT_OPEN" val="0"/>
  <p:tag name="ARTICULATE_SLIDE_COUNT" val="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132</TotalTime>
  <Words>1117</Words>
  <Application>Microsoft Office PowerPoint</Application>
  <PresentationFormat>Widescreen</PresentationFormat>
  <Paragraphs>106</Paragraphs>
  <Slides>14</Slides>
  <Notes>2</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14</vt:i4>
      </vt:variant>
    </vt:vector>
  </HeadingPairs>
  <TitlesOfParts>
    <vt:vector size="24" baseType="lpstr">
      <vt:lpstr>Aptos</vt:lpstr>
      <vt:lpstr>Aptos Display</vt:lpstr>
      <vt:lpstr>Arial</vt:lpstr>
      <vt:lpstr>Calibri</vt:lpstr>
      <vt:lpstr>Constantia</vt:lpstr>
      <vt:lpstr>Franklin Gothic Book</vt:lpstr>
      <vt:lpstr>Times New Roman</vt:lpstr>
      <vt:lpstr>Wingdings</vt:lpstr>
      <vt:lpstr>1_Office Theme</vt:lpstr>
      <vt:lpstr>Custom Design</vt:lpstr>
      <vt:lpstr>PowerPoint Presentation</vt:lpstr>
      <vt:lpstr>OUTLINE:</vt:lpstr>
      <vt:lpstr>Problem Statement:</vt:lpstr>
      <vt:lpstr>Proposed Solution:</vt:lpstr>
      <vt:lpstr>System  Approach:</vt:lpstr>
      <vt:lpstr>report &amp; analysis:</vt:lpstr>
      <vt:lpstr>Result:</vt:lpstr>
      <vt:lpstr>Result:</vt:lpstr>
      <vt:lpstr>Result:</vt:lpstr>
      <vt:lpstr>Result:</vt:lpstr>
      <vt:lpstr>Conclusion:</vt:lpstr>
      <vt:lpstr>Future scope:</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dulamvignesh123@gmail.com</cp:lastModifiedBy>
  <cp:revision>109</cp:revision>
  <dcterms:created xsi:type="dcterms:W3CDTF">2024-05-21T11:55:07Z</dcterms:created>
  <dcterms:modified xsi:type="dcterms:W3CDTF">2026-03-14T15:04:01Z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ies>
</file>